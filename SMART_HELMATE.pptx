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7" r:id="rId5"/>
    <p:sldId id="261" r:id="rId6"/>
    <p:sldId id="268" r:id="rId7"/>
    <p:sldId id="269" r:id="rId8"/>
    <p:sldId id="263" r:id="rId9"/>
    <p:sldId id="264" r:id="rId10"/>
    <p:sldId id="270" r:id="rId11"/>
    <p:sldId id="271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50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smarthelmate.netlify.app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39531"/>
            <a:ext cx="7556421" cy="175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72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Smart Helmet using Ignition System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C6C84EF4-AE9C-ABA0-5F26-0804AB64270E}"/>
              </a:ext>
            </a:extLst>
          </p:cNvPr>
          <p:cNvSpPr txBox="1"/>
          <p:nvPr/>
        </p:nvSpPr>
        <p:spPr>
          <a:xfrm>
            <a:off x="793790" y="4269998"/>
            <a:ext cx="6334125" cy="159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solidFill>
                  <a:srgbClr val="272525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Team Members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</a:t>
            </a: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H.PADMAVATHI       -    24L31A4482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K. KARTHIK                  -    24L31A4468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S.RENUKA                     -    24L31A4499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SK.RIZWANA                -    24L31A44A5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T.THRISHITHA              -   24L31A44B6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375"/>
              </a:lnSpc>
            </a:pPr>
            <a:endParaRPr lang="en-US" sz="1350" dirty="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6795" y="507921"/>
            <a:ext cx="4836200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0">
            <a:extLst>
              <a:ext uri="{FF2B5EF4-FFF2-40B4-BE49-F238E27FC236}">
                <a16:creationId xmlns:a16="http://schemas.microsoft.com/office/drawing/2014/main" id="{7D47E114-F0AC-40A2-12E4-DD8841DD2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76" y="1634252"/>
            <a:ext cx="7544268" cy="50295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A0D33E-C32D-1FB2-CA04-2BE5D3145D38}"/>
              </a:ext>
            </a:extLst>
          </p:cNvPr>
          <p:cNvSpPr txBox="1"/>
          <p:nvPr/>
        </p:nvSpPr>
        <p:spPr>
          <a:xfrm>
            <a:off x="1231821" y="507921"/>
            <a:ext cx="6769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D836D84F-F064-CF1D-CB1D-007AB7F4C9C3}"/>
              </a:ext>
            </a:extLst>
          </p:cNvPr>
          <p:cNvSpPr/>
          <p:nvPr/>
        </p:nvSpPr>
        <p:spPr>
          <a:xfrm>
            <a:off x="9512607" y="5606532"/>
            <a:ext cx="3702248" cy="1226582"/>
          </a:xfrm>
          <a:prstGeom prst="roundRect">
            <a:avLst>
              <a:gd name="adj" fmla="val 8946"/>
            </a:avLst>
          </a:prstGeom>
          <a:solidFill>
            <a:srgbClr val="00B0F0">
              <a:alpha val="14000"/>
            </a:srgbClr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3A62708A-3B6C-F889-EC2A-7FD960EA0D05}"/>
              </a:ext>
            </a:extLst>
          </p:cNvPr>
          <p:cNvSpPr/>
          <p:nvPr/>
        </p:nvSpPr>
        <p:spPr>
          <a:xfrm>
            <a:off x="10212813" y="5708128"/>
            <a:ext cx="225611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 Human Forgetfulness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17CE0A4A-9C06-427F-3866-8C88D5BDED75}"/>
              </a:ext>
            </a:extLst>
          </p:cNvPr>
          <p:cNvSpPr/>
          <p:nvPr/>
        </p:nvSpPr>
        <p:spPr>
          <a:xfrm>
            <a:off x="9934575" y="6193986"/>
            <a:ext cx="3093352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Even safety-conscious riders sometimes forget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86825D1E-A13E-D74A-A1D1-32C6A06449D5}"/>
              </a:ext>
            </a:extLst>
          </p:cNvPr>
          <p:cNvSpPr/>
          <p:nvPr/>
        </p:nvSpPr>
        <p:spPr>
          <a:xfrm>
            <a:off x="9489747" y="4149007"/>
            <a:ext cx="3702248" cy="1226582"/>
          </a:xfrm>
          <a:prstGeom prst="roundRect">
            <a:avLst>
              <a:gd name="adj" fmla="val 8946"/>
            </a:avLst>
          </a:prstGeom>
          <a:solidFill>
            <a:srgbClr val="00B0F0">
              <a:alpha val="14000"/>
            </a:srgbClr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89CFAF86-8860-E458-40A8-DA155B7B34C0}"/>
              </a:ext>
            </a:extLst>
          </p:cNvPr>
          <p:cNvSpPr/>
          <p:nvPr/>
        </p:nvSpPr>
        <p:spPr>
          <a:xfrm>
            <a:off x="9745254" y="4301764"/>
            <a:ext cx="225611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High Injury Rates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26B9A5D-C528-96BF-0033-780169BA52A6}"/>
              </a:ext>
            </a:extLst>
          </p:cNvPr>
          <p:cNvSpPr/>
          <p:nvPr/>
        </p:nvSpPr>
        <p:spPr>
          <a:xfrm>
            <a:off x="9840505" y="4736461"/>
            <a:ext cx="3164562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Head trauma is the leading cause of two-wheeler fatalities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7E8E4C96-C859-A1A2-0845-1269E2058481}"/>
              </a:ext>
            </a:extLst>
          </p:cNvPr>
          <p:cNvSpPr/>
          <p:nvPr/>
        </p:nvSpPr>
        <p:spPr>
          <a:xfrm>
            <a:off x="9489747" y="1447324"/>
            <a:ext cx="3702248" cy="1226582"/>
          </a:xfrm>
          <a:prstGeom prst="roundRect">
            <a:avLst>
              <a:gd name="adj" fmla="val 8946"/>
            </a:avLst>
          </a:prstGeom>
          <a:solidFill>
            <a:srgbClr val="00B0F0">
              <a:alpha val="14000"/>
            </a:srgbClr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53A1595-51F4-B741-C28E-CA0C2F948693}"/>
              </a:ext>
            </a:extLst>
          </p:cNvPr>
          <p:cNvSpPr/>
          <p:nvPr/>
        </p:nvSpPr>
        <p:spPr>
          <a:xfrm>
            <a:off x="9840505" y="1634252"/>
            <a:ext cx="2256115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Ignored Safety Rules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81ED4658-9526-8FCE-DABB-2FAB38BB1F14}"/>
              </a:ext>
            </a:extLst>
          </p:cNvPr>
          <p:cNvSpPr/>
          <p:nvPr/>
        </p:nvSpPr>
        <p:spPr>
          <a:xfrm>
            <a:off x="9745255" y="2034778"/>
            <a:ext cx="3259812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Riders routinely skip helmets despite legal requirements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1737750E-69C9-C3B6-4443-8C74634DCDB8}"/>
              </a:ext>
            </a:extLst>
          </p:cNvPr>
          <p:cNvSpPr/>
          <p:nvPr/>
        </p:nvSpPr>
        <p:spPr>
          <a:xfrm>
            <a:off x="9489747" y="2792492"/>
            <a:ext cx="3702248" cy="1226582"/>
          </a:xfrm>
          <a:prstGeom prst="roundRect">
            <a:avLst>
              <a:gd name="adj" fmla="val 8946"/>
            </a:avLst>
          </a:prstGeom>
          <a:solidFill>
            <a:srgbClr val="00B0F0">
              <a:alpha val="14000"/>
            </a:srgbClr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75A375D3-D9AD-79CF-090E-00ED8CAD26CA}"/>
              </a:ext>
            </a:extLst>
          </p:cNvPr>
          <p:cNvSpPr/>
          <p:nvPr/>
        </p:nvSpPr>
        <p:spPr>
          <a:xfrm>
            <a:off x="9426999" y="2982535"/>
            <a:ext cx="289262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      No Automated Enforcement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3F14E8B7-77F8-1742-AD6F-7AEF4A8BC5B7}"/>
              </a:ext>
            </a:extLst>
          </p:cNvPr>
          <p:cNvSpPr/>
          <p:nvPr/>
        </p:nvSpPr>
        <p:spPr>
          <a:xfrm>
            <a:off x="9768114" y="3379946"/>
            <a:ext cx="3019067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Manual police checks are infrequent and easy to evade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B8A1FCF-5F5E-ACDD-1EE9-E8BFD1C83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7900" y="7559872"/>
            <a:ext cx="3042469" cy="6697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715915"/>
            <a:ext cx="709136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54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The Problem We're Solving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037403"/>
            <a:ext cx="3664744" cy="1687592"/>
          </a:xfrm>
          <a:prstGeom prst="roundRect">
            <a:avLst>
              <a:gd name="adj" fmla="val 2016"/>
            </a:avLst>
          </a:prstGeom>
          <a:solidFill>
            <a:srgbClr val="00B0F0">
              <a:alpha val="1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2642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Rising Accidents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0604" y="377237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Road accidents are increasing daily — many preventable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348" y="3037403"/>
            <a:ext cx="3664863" cy="1687592"/>
          </a:xfrm>
          <a:prstGeom prst="roundRect">
            <a:avLst>
              <a:gd name="adj" fmla="val 2016"/>
            </a:avLst>
          </a:prstGeom>
          <a:solidFill>
            <a:srgbClr val="00B0F0">
              <a:alpha val="1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32642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Helmet Neglect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2162" y="377237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Riders routinely ignore helmet safety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4951809"/>
            <a:ext cx="7556421" cy="1324689"/>
          </a:xfrm>
          <a:prstGeom prst="roundRect">
            <a:avLst>
              <a:gd name="adj" fmla="val 2568"/>
            </a:avLst>
          </a:prstGeom>
          <a:solidFill>
            <a:srgbClr val="00B0F0">
              <a:alpha val="1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1786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No Enforcement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0604" y="568678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No system prevents bike ignition without a helmet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70175-C543-F123-435C-FABF3D4BF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8943" y="7621702"/>
            <a:ext cx="1861457" cy="607898"/>
          </a:xfrm>
          <a:prstGeom prst="rect">
            <a:avLst/>
          </a:prstGeom>
        </p:spPr>
      </p:pic>
      <p:grpSp>
        <p:nvGrpSpPr>
          <p:cNvPr id="18" name="Group 8">
            <a:extLst>
              <a:ext uri="{FF2B5EF4-FFF2-40B4-BE49-F238E27FC236}">
                <a16:creationId xmlns:a16="http://schemas.microsoft.com/office/drawing/2014/main" id="{2D656DDF-4FB0-6FC7-B5BD-2C912BA130C4}"/>
              </a:ext>
            </a:extLst>
          </p:cNvPr>
          <p:cNvGrpSpPr/>
          <p:nvPr/>
        </p:nvGrpSpPr>
        <p:grpSpPr>
          <a:xfrm>
            <a:off x="8712490" y="2784498"/>
            <a:ext cx="5616000" cy="3492000"/>
            <a:chOff x="0" y="0"/>
            <a:chExt cx="6134100" cy="3416300"/>
          </a:xfrm>
          <a:effectLst>
            <a:outerShdw blurRad="50800" dist="38100" dir="2700000" algn="tl" rotWithShape="0">
              <a:schemeClr val="tx1">
                <a:alpha val="47000"/>
              </a:schemeClr>
            </a:outerShdw>
          </a:effectLst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42A8236B-BBA9-9848-4F48-0429F87B9CCA}"/>
                </a:ext>
              </a:extLst>
            </p:cNvPr>
            <p:cNvSpPr/>
            <p:nvPr/>
          </p:nvSpPr>
          <p:spPr>
            <a:xfrm>
              <a:off x="0" y="0"/>
              <a:ext cx="6134100" cy="3416300"/>
            </a:xfrm>
            <a:custGeom>
              <a:avLst/>
              <a:gdLst/>
              <a:ahLst/>
              <a:cxnLst/>
              <a:rect l="l" t="t" r="r" b="b"/>
              <a:pathLst>
                <a:path w="6134100" h="34163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3336290"/>
                  </a:lnTo>
                  <a:cubicBezTo>
                    <a:pt x="0" y="3346958"/>
                    <a:pt x="2032" y="3357118"/>
                    <a:pt x="6096" y="3366897"/>
                  </a:cubicBezTo>
                  <a:cubicBezTo>
                    <a:pt x="10160" y="3376676"/>
                    <a:pt x="15875" y="3385312"/>
                    <a:pt x="23495" y="3392805"/>
                  </a:cubicBezTo>
                  <a:cubicBezTo>
                    <a:pt x="31115" y="3400298"/>
                    <a:pt x="39624" y="3406140"/>
                    <a:pt x="49403" y="3410204"/>
                  </a:cubicBezTo>
                  <a:cubicBezTo>
                    <a:pt x="59182" y="3414268"/>
                    <a:pt x="69342" y="3416300"/>
                    <a:pt x="80010" y="3416300"/>
                  </a:cubicBezTo>
                  <a:lnTo>
                    <a:pt x="6054090" y="3416300"/>
                  </a:lnTo>
                  <a:cubicBezTo>
                    <a:pt x="6064758" y="3416300"/>
                    <a:pt x="6074918" y="3414268"/>
                    <a:pt x="6084697" y="3410204"/>
                  </a:cubicBezTo>
                  <a:cubicBezTo>
                    <a:pt x="6094476" y="3406140"/>
                    <a:pt x="6103112" y="3400425"/>
                    <a:pt x="6110605" y="3392805"/>
                  </a:cubicBezTo>
                  <a:cubicBezTo>
                    <a:pt x="6118098" y="3385185"/>
                    <a:pt x="6123940" y="3376676"/>
                    <a:pt x="6128004" y="3366897"/>
                  </a:cubicBezTo>
                  <a:cubicBezTo>
                    <a:pt x="6132068" y="3357118"/>
                    <a:pt x="6134100" y="3346958"/>
                    <a:pt x="6134100" y="3336290"/>
                  </a:cubicBezTo>
                  <a:lnTo>
                    <a:pt x="6134100" y="80010"/>
                  </a:lnTo>
                  <a:cubicBezTo>
                    <a:pt x="6134100" y="69469"/>
                    <a:pt x="6132068" y="59182"/>
                    <a:pt x="6128004" y="49403"/>
                  </a:cubicBezTo>
                  <a:cubicBezTo>
                    <a:pt x="6123940" y="39624"/>
                    <a:pt x="6118225" y="30988"/>
                    <a:pt x="6110605" y="23495"/>
                  </a:cubicBezTo>
                  <a:cubicBezTo>
                    <a:pt x="6102985" y="16002"/>
                    <a:pt x="6094476" y="10160"/>
                    <a:pt x="6084697" y="6096"/>
                  </a:cubicBezTo>
                  <a:cubicBezTo>
                    <a:pt x="6074918" y="2032"/>
                    <a:pt x="6064758" y="0"/>
                    <a:pt x="605409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B96270C5-F344-661B-69B9-E71B621305B1}"/>
              </a:ext>
            </a:extLst>
          </p:cNvPr>
          <p:cNvGrpSpPr/>
          <p:nvPr/>
        </p:nvGrpSpPr>
        <p:grpSpPr>
          <a:xfrm>
            <a:off x="1700545" y="429649"/>
            <a:ext cx="10086185" cy="6892582"/>
            <a:chOff x="600075" y="356626"/>
            <a:chExt cx="8225980" cy="6663077"/>
          </a:xfrm>
        </p:grpSpPr>
        <p:sp>
          <p:nvSpPr>
            <p:cNvPr id="33" name="TextBox 21">
              <a:extLst>
                <a:ext uri="{FF2B5EF4-FFF2-40B4-BE49-F238E27FC236}">
                  <a16:creationId xmlns:a16="http://schemas.microsoft.com/office/drawing/2014/main" id="{EC38C71F-CA93-FD03-F46A-8A99D72A65B1}"/>
                </a:ext>
              </a:extLst>
            </p:cNvPr>
            <p:cNvSpPr txBox="1"/>
            <p:nvPr/>
          </p:nvSpPr>
          <p:spPr>
            <a:xfrm>
              <a:off x="600075" y="356626"/>
              <a:ext cx="5590726" cy="6997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946"/>
                </a:lnSpc>
              </a:pPr>
              <a:r>
                <a:rPr lang="en-US" sz="4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System Components</a:t>
              </a: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F7B4984D-9380-AAEE-C8AC-DC37C008FA81}"/>
                </a:ext>
              </a:extLst>
            </p:cNvPr>
            <p:cNvSpPr txBox="1"/>
            <p:nvPr/>
          </p:nvSpPr>
          <p:spPr>
            <a:xfrm>
              <a:off x="1510694" y="1226715"/>
              <a:ext cx="60322" cy="595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315"/>
                </a:lnSpc>
              </a:pPr>
              <a:r>
                <a:rPr lang="en-US" sz="2126" b="1">
                  <a:solidFill>
                    <a:srgbClr val="325F7B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</a:p>
          </p:txBody>
        </p:sp>
        <p:sp>
          <p:nvSpPr>
            <p:cNvPr id="35" name="TextBox 23">
              <a:extLst>
                <a:ext uri="{FF2B5EF4-FFF2-40B4-BE49-F238E27FC236}">
                  <a16:creationId xmlns:a16="http://schemas.microsoft.com/office/drawing/2014/main" id="{DCF88293-C610-892E-7A9D-C9805C04F422}"/>
                </a:ext>
              </a:extLst>
            </p:cNvPr>
            <p:cNvSpPr txBox="1"/>
            <p:nvPr/>
          </p:nvSpPr>
          <p:spPr>
            <a:xfrm>
              <a:off x="893631" y="1268838"/>
              <a:ext cx="2035140" cy="4664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097"/>
                </a:lnSpc>
              </a:pPr>
              <a:r>
                <a:rPr lang="en-US" sz="2400" b="1" dirty="0">
                  <a:solidFill>
                    <a:srgbClr val="325F7B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Helmet</a:t>
              </a:r>
              <a:r>
                <a:rPr 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  <a:r>
                <a:rPr lang="en-US" sz="2400" b="1" dirty="0">
                  <a:solidFill>
                    <a:srgbClr val="325F7B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Unit</a:t>
              </a:r>
            </a:p>
          </p:txBody>
        </p:sp>
        <p:sp>
          <p:nvSpPr>
            <p:cNvPr id="36" name="TextBox 24">
              <a:extLst>
                <a:ext uri="{FF2B5EF4-FFF2-40B4-BE49-F238E27FC236}">
                  <a16:creationId xmlns:a16="http://schemas.microsoft.com/office/drawing/2014/main" id="{D6CD1F53-01C2-F20B-F9EB-BB4E51F31D10}"/>
                </a:ext>
              </a:extLst>
            </p:cNvPr>
            <p:cNvSpPr txBox="1"/>
            <p:nvPr/>
          </p:nvSpPr>
          <p:spPr>
            <a:xfrm>
              <a:off x="1886074" y="1846717"/>
              <a:ext cx="50254" cy="428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7"/>
                </a:lnSpc>
              </a:pPr>
              <a:r>
                <a:rPr lang="en-US" sz="1771" b="1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</a:p>
          </p:txBody>
        </p:sp>
        <p:sp>
          <p:nvSpPr>
            <p:cNvPr id="37" name="TextBox 25">
              <a:extLst>
                <a:ext uri="{FF2B5EF4-FFF2-40B4-BE49-F238E27FC236}">
                  <a16:creationId xmlns:a16="http://schemas.microsoft.com/office/drawing/2014/main" id="{989037C6-C3E0-37CB-F4BD-B53E072D087C}"/>
                </a:ext>
              </a:extLst>
            </p:cNvPr>
            <p:cNvSpPr txBox="1"/>
            <p:nvPr/>
          </p:nvSpPr>
          <p:spPr>
            <a:xfrm>
              <a:off x="5815684" y="1310937"/>
              <a:ext cx="1394297" cy="9541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4097"/>
                </a:lnSpc>
              </a:pPr>
              <a:r>
                <a:rPr lang="en-US" sz="2400" b="1" dirty="0">
                  <a:solidFill>
                    <a:srgbClr val="325F7B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Bike Unit</a:t>
              </a:r>
            </a:p>
            <a:p>
              <a:pPr algn="r">
                <a:lnSpc>
                  <a:spcPts val="3907"/>
                </a:lnSpc>
              </a:pPr>
              <a:r>
                <a:rPr lang="en-US" sz="1771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</a:p>
          </p:txBody>
        </p:sp>
        <p:sp>
          <p:nvSpPr>
            <p:cNvPr id="38" name="TextBox 26">
              <a:extLst>
                <a:ext uri="{FF2B5EF4-FFF2-40B4-BE49-F238E27FC236}">
                  <a16:creationId xmlns:a16="http://schemas.microsoft.com/office/drawing/2014/main" id="{B423239D-CE2A-F4C4-A287-596686FFCE6B}"/>
                </a:ext>
              </a:extLst>
            </p:cNvPr>
            <p:cNvSpPr txBox="1"/>
            <p:nvPr/>
          </p:nvSpPr>
          <p:spPr>
            <a:xfrm>
              <a:off x="857250" y="1865767"/>
              <a:ext cx="1820837" cy="409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734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Pressure</a:t>
              </a:r>
              <a:r>
                <a:rPr 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Sensor</a:t>
              </a:r>
            </a:p>
          </p:txBody>
        </p:sp>
        <p:sp>
          <p:nvSpPr>
            <p:cNvPr id="39" name="TextBox 27">
              <a:extLst>
                <a:ext uri="{FF2B5EF4-FFF2-40B4-BE49-F238E27FC236}">
                  <a16:creationId xmlns:a16="http://schemas.microsoft.com/office/drawing/2014/main" id="{B243DF12-5564-3047-CAF5-8C17577F5686}"/>
                </a:ext>
              </a:extLst>
            </p:cNvPr>
            <p:cNvSpPr txBox="1"/>
            <p:nvPr/>
          </p:nvSpPr>
          <p:spPr>
            <a:xfrm>
              <a:off x="1478194" y="2356447"/>
              <a:ext cx="49139" cy="368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5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40" name="TextBox 28">
              <a:extLst>
                <a:ext uri="{FF2B5EF4-FFF2-40B4-BE49-F238E27FC236}">
                  <a16:creationId xmlns:a16="http://schemas.microsoft.com/office/drawing/2014/main" id="{E2515CD0-A87C-8366-7D17-28F8095E8853}"/>
                </a:ext>
              </a:extLst>
            </p:cNvPr>
            <p:cNvSpPr txBox="1"/>
            <p:nvPr/>
          </p:nvSpPr>
          <p:spPr>
            <a:xfrm>
              <a:off x="857250" y="2875417"/>
              <a:ext cx="1932508" cy="8837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Arduino Nano</a:t>
              </a:r>
            </a:p>
            <a:p>
              <a:pPr>
                <a:lnSpc>
                  <a:spcPts val="2893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Processes sensor input</a:t>
              </a:r>
            </a:p>
          </p:txBody>
        </p:sp>
        <p:sp>
          <p:nvSpPr>
            <p:cNvPr id="41" name="TextBox 29">
              <a:extLst>
                <a:ext uri="{FF2B5EF4-FFF2-40B4-BE49-F238E27FC236}">
                  <a16:creationId xmlns:a16="http://schemas.microsoft.com/office/drawing/2014/main" id="{ED9727A9-5D32-6381-73CA-9C349D213612}"/>
                </a:ext>
              </a:extLst>
            </p:cNvPr>
            <p:cNvSpPr txBox="1"/>
            <p:nvPr/>
          </p:nvSpPr>
          <p:spPr>
            <a:xfrm>
              <a:off x="857250" y="3942217"/>
              <a:ext cx="1479071" cy="494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LED Indicator</a:t>
              </a:r>
            </a:p>
          </p:txBody>
        </p:sp>
        <p:sp>
          <p:nvSpPr>
            <p:cNvPr id="42" name="TextBox 30">
              <a:extLst>
                <a:ext uri="{FF2B5EF4-FFF2-40B4-BE49-F238E27FC236}">
                  <a16:creationId xmlns:a16="http://schemas.microsoft.com/office/drawing/2014/main" id="{0F629A5C-4B26-D38A-2F6C-CDED63203866}"/>
                </a:ext>
              </a:extLst>
            </p:cNvPr>
            <p:cNvSpPr txBox="1"/>
            <p:nvPr/>
          </p:nvSpPr>
          <p:spPr>
            <a:xfrm>
              <a:off x="1346740" y="4528147"/>
              <a:ext cx="49139" cy="33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2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43" name="TextBox 31">
              <a:extLst>
                <a:ext uri="{FF2B5EF4-FFF2-40B4-BE49-F238E27FC236}">
                  <a16:creationId xmlns:a16="http://schemas.microsoft.com/office/drawing/2014/main" id="{8B1207B5-4076-398B-33A0-47607A1754A2}"/>
                </a:ext>
              </a:extLst>
            </p:cNvPr>
            <p:cNvSpPr txBox="1"/>
            <p:nvPr/>
          </p:nvSpPr>
          <p:spPr>
            <a:xfrm>
              <a:off x="857250" y="5082532"/>
              <a:ext cx="2250148" cy="10010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Buzzer Alert</a:t>
              </a:r>
            </a:p>
            <a:p>
              <a:pPr>
                <a:lnSpc>
                  <a:spcPts val="4428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Audio warning system</a:t>
              </a:r>
            </a:p>
          </p:txBody>
        </p:sp>
        <p:sp>
          <p:nvSpPr>
            <p:cNvPr id="44" name="TextBox 32">
              <a:extLst>
                <a:ext uri="{FF2B5EF4-FFF2-40B4-BE49-F238E27FC236}">
                  <a16:creationId xmlns:a16="http://schemas.microsoft.com/office/drawing/2014/main" id="{90CE3959-33EC-71E6-1387-D14BCD6EFEAB}"/>
                </a:ext>
              </a:extLst>
            </p:cNvPr>
            <p:cNvSpPr txBox="1"/>
            <p:nvPr/>
          </p:nvSpPr>
          <p:spPr>
            <a:xfrm>
              <a:off x="857250" y="6147741"/>
              <a:ext cx="1777965" cy="494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sz="1771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HC-05 Bluetooth</a:t>
              </a:r>
            </a:p>
          </p:txBody>
        </p:sp>
        <p:sp>
          <p:nvSpPr>
            <p:cNvPr id="45" name="TextBox 33">
              <a:extLst>
                <a:ext uri="{FF2B5EF4-FFF2-40B4-BE49-F238E27FC236}">
                  <a16:creationId xmlns:a16="http://schemas.microsoft.com/office/drawing/2014/main" id="{AB183934-FBA0-292F-2396-A5AE85ADB333}"/>
                </a:ext>
              </a:extLst>
            </p:cNvPr>
            <p:cNvSpPr txBox="1"/>
            <p:nvPr/>
          </p:nvSpPr>
          <p:spPr>
            <a:xfrm>
              <a:off x="1551861" y="6680797"/>
              <a:ext cx="49139" cy="320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93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46" name="TextBox 34">
              <a:extLst>
                <a:ext uri="{FF2B5EF4-FFF2-40B4-BE49-F238E27FC236}">
                  <a16:creationId xmlns:a16="http://schemas.microsoft.com/office/drawing/2014/main" id="{0208E0FF-3E77-69DA-9DFA-A78BB98143F0}"/>
                </a:ext>
              </a:extLst>
            </p:cNvPr>
            <p:cNvSpPr txBox="1"/>
            <p:nvPr/>
          </p:nvSpPr>
          <p:spPr>
            <a:xfrm>
              <a:off x="6190802" y="1865767"/>
              <a:ext cx="1854108" cy="4159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734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Arduino</a:t>
              </a: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Nano</a:t>
              </a:r>
            </a:p>
          </p:txBody>
        </p:sp>
        <p:sp>
          <p:nvSpPr>
            <p:cNvPr id="47" name="TextBox 35">
              <a:extLst>
                <a:ext uri="{FF2B5EF4-FFF2-40B4-BE49-F238E27FC236}">
                  <a16:creationId xmlns:a16="http://schemas.microsoft.com/office/drawing/2014/main" id="{0649B9EE-8037-9706-9CAD-8361288DCD2F}"/>
                </a:ext>
              </a:extLst>
            </p:cNvPr>
            <p:cNvSpPr txBox="1"/>
            <p:nvPr/>
          </p:nvSpPr>
          <p:spPr>
            <a:xfrm>
              <a:off x="6921503" y="2356447"/>
              <a:ext cx="49139" cy="368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75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48" name="TextBox 36">
              <a:extLst>
                <a:ext uri="{FF2B5EF4-FFF2-40B4-BE49-F238E27FC236}">
                  <a16:creationId xmlns:a16="http://schemas.microsoft.com/office/drawing/2014/main" id="{6EFC66EB-E432-0912-E7EF-1F00620ECBA2}"/>
                </a:ext>
              </a:extLst>
            </p:cNvPr>
            <p:cNvSpPr txBox="1"/>
            <p:nvPr/>
          </p:nvSpPr>
          <p:spPr>
            <a:xfrm>
              <a:off x="6190802" y="2875417"/>
              <a:ext cx="1906991" cy="8837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HC-05 Bluetooth</a:t>
              </a:r>
            </a:p>
            <a:p>
              <a:pPr>
                <a:lnSpc>
                  <a:spcPts val="2893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Paired receiver module</a:t>
              </a:r>
            </a:p>
          </p:txBody>
        </p:sp>
        <p:sp>
          <p:nvSpPr>
            <p:cNvPr id="49" name="TextBox 37">
              <a:extLst>
                <a:ext uri="{FF2B5EF4-FFF2-40B4-BE49-F238E27FC236}">
                  <a16:creationId xmlns:a16="http://schemas.microsoft.com/office/drawing/2014/main" id="{ECD51116-E56F-B02A-8F27-144783E7EA61}"/>
                </a:ext>
              </a:extLst>
            </p:cNvPr>
            <p:cNvSpPr txBox="1"/>
            <p:nvPr/>
          </p:nvSpPr>
          <p:spPr>
            <a:xfrm>
              <a:off x="6190802" y="3942217"/>
              <a:ext cx="1426321" cy="494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Relay Module</a:t>
              </a:r>
            </a:p>
          </p:txBody>
        </p:sp>
        <p:sp>
          <p:nvSpPr>
            <p:cNvPr id="50" name="TextBox 38">
              <a:extLst>
                <a:ext uri="{FF2B5EF4-FFF2-40B4-BE49-F238E27FC236}">
                  <a16:creationId xmlns:a16="http://schemas.microsoft.com/office/drawing/2014/main" id="{99CDD6A2-B36C-AA0E-8E11-AC4E96CDE82B}"/>
                </a:ext>
              </a:extLst>
            </p:cNvPr>
            <p:cNvSpPr txBox="1"/>
            <p:nvPr/>
          </p:nvSpPr>
          <p:spPr>
            <a:xfrm>
              <a:off x="6872821" y="4528147"/>
              <a:ext cx="49139" cy="33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2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51" name="TextBox 39">
              <a:extLst>
                <a:ext uri="{FF2B5EF4-FFF2-40B4-BE49-F238E27FC236}">
                  <a16:creationId xmlns:a16="http://schemas.microsoft.com/office/drawing/2014/main" id="{719C03D5-DEC4-C57A-E3B3-FF23EB863EF0}"/>
                </a:ext>
              </a:extLst>
            </p:cNvPr>
            <p:cNvSpPr txBox="1"/>
            <p:nvPr/>
          </p:nvSpPr>
          <p:spPr>
            <a:xfrm>
              <a:off x="6190802" y="5009017"/>
              <a:ext cx="1017565" cy="494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DC Motor</a:t>
              </a:r>
            </a:p>
          </p:txBody>
        </p:sp>
        <p:sp>
          <p:nvSpPr>
            <p:cNvPr id="52" name="TextBox 40">
              <a:extLst>
                <a:ext uri="{FF2B5EF4-FFF2-40B4-BE49-F238E27FC236}">
                  <a16:creationId xmlns:a16="http://schemas.microsoft.com/office/drawing/2014/main" id="{1AB16B8F-F600-D87B-DD27-4C46423CD03A}"/>
                </a:ext>
              </a:extLst>
            </p:cNvPr>
            <p:cNvSpPr txBox="1"/>
            <p:nvPr/>
          </p:nvSpPr>
          <p:spPr>
            <a:xfrm>
              <a:off x="6534712" y="5594947"/>
              <a:ext cx="49139" cy="33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2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53" name="TextBox 41">
              <a:extLst>
                <a:ext uri="{FF2B5EF4-FFF2-40B4-BE49-F238E27FC236}">
                  <a16:creationId xmlns:a16="http://schemas.microsoft.com/office/drawing/2014/main" id="{7482DAC8-4A04-67E6-34DD-A3692C0C3DA5}"/>
                </a:ext>
              </a:extLst>
            </p:cNvPr>
            <p:cNvSpPr txBox="1"/>
            <p:nvPr/>
          </p:nvSpPr>
          <p:spPr>
            <a:xfrm>
              <a:off x="6190802" y="6085342"/>
              <a:ext cx="1197635" cy="494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28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12V Battery</a:t>
              </a:r>
            </a:p>
          </p:txBody>
        </p:sp>
        <p:sp>
          <p:nvSpPr>
            <p:cNvPr id="54" name="TextBox 42">
              <a:extLst>
                <a:ext uri="{FF2B5EF4-FFF2-40B4-BE49-F238E27FC236}">
                  <a16:creationId xmlns:a16="http://schemas.microsoft.com/office/drawing/2014/main" id="{6E48F3BE-ED8D-6314-EAAB-13B61B8079E9}"/>
                </a:ext>
              </a:extLst>
            </p:cNvPr>
            <p:cNvSpPr txBox="1"/>
            <p:nvPr/>
          </p:nvSpPr>
          <p:spPr>
            <a:xfrm>
              <a:off x="6851571" y="6680797"/>
              <a:ext cx="49139" cy="320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93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55" name="TextBox 43">
              <a:extLst>
                <a:ext uri="{FF2B5EF4-FFF2-40B4-BE49-F238E27FC236}">
                  <a16:creationId xmlns:a16="http://schemas.microsoft.com/office/drawing/2014/main" id="{CFE6F802-4E49-4BFF-C18D-76DA0A07E5DD}"/>
                </a:ext>
              </a:extLst>
            </p:cNvPr>
            <p:cNvSpPr txBox="1"/>
            <p:nvPr/>
          </p:nvSpPr>
          <p:spPr>
            <a:xfrm>
              <a:off x="857250" y="2499322"/>
              <a:ext cx="2250148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9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Detects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helmet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wear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status</a:t>
              </a:r>
            </a:p>
          </p:txBody>
        </p:sp>
        <p:sp>
          <p:nvSpPr>
            <p:cNvPr id="56" name="TextBox 44">
              <a:extLst>
                <a:ext uri="{FF2B5EF4-FFF2-40B4-BE49-F238E27FC236}">
                  <a16:creationId xmlns:a16="http://schemas.microsoft.com/office/drawing/2014/main" id="{2E2B58BB-0589-F9AE-908F-020F5AEDAD76}"/>
                </a:ext>
              </a:extLst>
            </p:cNvPr>
            <p:cNvSpPr txBox="1"/>
            <p:nvPr/>
          </p:nvSpPr>
          <p:spPr>
            <a:xfrm>
              <a:off x="857250" y="4642447"/>
              <a:ext cx="2481929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9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Visual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helmet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status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feedback</a:t>
              </a:r>
            </a:p>
          </p:txBody>
        </p:sp>
        <p:sp>
          <p:nvSpPr>
            <p:cNvPr id="57" name="TextBox 45">
              <a:extLst>
                <a:ext uri="{FF2B5EF4-FFF2-40B4-BE49-F238E27FC236}">
                  <a16:creationId xmlns:a16="http://schemas.microsoft.com/office/drawing/2014/main" id="{FDCC0CF0-28F7-963E-7564-0CA51C0DBE99}"/>
                </a:ext>
              </a:extLst>
            </p:cNvPr>
            <p:cNvSpPr txBox="1"/>
            <p:nvPr/>
          </p:nvSpPr>
          <p:spPr>
            <a:xfrm>
              <a:off x="857249" y="6776047"/>
              <a:ext cx="3056011" cy="243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9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Wireless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communication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module</a:t>
              </a:r>
            </a:p>
          </p:txBody>
        </p:sp>
        <p:sp>
          <p:nvSpPr>
            <p:cNvPr id="58" name="TextBox 46">
              <a:extLst>
                <a:ext uri="{FF2B5EF4-FFF2-40B4-BE49-F238E27FC236}">
                  <a16:creationId xmlns:a16="http://schemas.microsoft.com/office/drawing/2014/main" id="{5E9245FC-F4A4-8823-BD28-03FAAECEFEA6}"/>
                </a:ext>
              </a:extLst>
            </p:cNvPr>
            <p:cNvSpPr txBox="1"/>
            <p:nvPr/>
          </p:nvSpPr>
          <p:spPr>
            <a:xfrm>
              <a:off x="6190801" y="6776047"/>
              <a:ext cx="2395271" cy="243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890"/>
                </a:lnSpc>
              </a:pP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External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power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source</a:t>
              </a:r>
            </a:p>
          </p:txBody>
        </p:sp>
        <p:sp>
          <p:nvSpPr>
            <p:cNvPr id="59" name="TextBox 47">
              <a:extLst>
                <a:ext uri="{FF2B5EF4-FFF2-40B4-BE49-F238E27FC236}">
                  <a16:creationId xmlns:a16="http://schemas.microsoft.com/office/drawing/2014/main" id="{1FF7418E-BCFA-7F13-328C-6EC0BFF83D9D}"/>
                </a:ext>
              </a:extLst>
            </p:cNvPr>
            <p:cNvSpPr txBox="1"/>
            <p:nvPr/>
          </p:nvSpPr>
          <p:spPr>
            <a:xfrm>
              <a:off x="6190802" y="5709247"/>
              <a:ext cx="2200999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9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Bike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engine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demonstration</a:t>
              </a:r>
            </a:p>
          </p:txBody>
        </p:sp>
        <p:sp>
          <p:nvSpPr>
            <p:cNvPr id="60" name="TextBox 48">
              <a:extLst>
                <a:ext uri="{FF2B5EF4-FFF2-40B4-BE49-F238E27FC236}">
                  <a16:creationId xmlns:a16="http://schemas.microsoft.com/office/drawing/2014/main" id="{79BFE988-F116-0DB2-F022-D78237C1B94E}"/>
                </a:ext>
              </a:extLst>
            </p:cNvPr>
            <p:cNvSpPr txBox="1"/>
            <p:nvPr/>
          </p:nvSpPr>
          <p:spPr>
            <a:xfrm>
              <a:off x="6190802" y="4642447"/>
              <a:ext cx="2395271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9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Controls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motor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power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supply</a:t>
              </a:r>
            </a:p>
          </p:txBody>
        </p:sp>
        <p:sp>
          <p:nvSpPr>
            <p:cNvPr id="61" name="TextBox 49">
              <a:extLst>
                <a:ext uri="{FF2B5EF4-FFF2-40B4-BE49-F238E27FC236}">
                  <a16:creationId xmlns:a16="http://schemas.microsoft.com/office/drawing/2014/main" id="{2A3AD2FF-503A-8289-65E8-EB0CA3487703}"/>
                </a:ext>
              </a:extLst>
            </p:cNvPr>
            <p:cNvSpPr txBox="1"/>
            <p:nvPr/>
          </p:nvSpPr>
          <p:spPr>
            <a:xfrm>
              <a:off x="6190802" y="2499322"/>
              <a:ext cx="2635253" cy="243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9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Receives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and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processes</a:t>
              </a:r>
              <a:r>
                <a: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signals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85614AC-DF18-B270-9BE7-919EEA60653E}"/>
              </a:ext>
            </a:extLst>
          </p:cNvPr>
          <p:cNvGrpSpPr/>
          <p:nvPr/>
        </p:nvGrpSpPr>
        <p:grpSpPr>
          <a:xfrm>
            <a:off x="1585119" y="2087719"/>
            <a:ext cx="3231185" cy="5427829"/>
            <a:chOff x="1661763" y="2038329"/>
            <a:chExt cx="3231185" cy="5427829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C4E55A7-065D-7B19-D61F-0AD00D418DB8}"/>
                </a:ext>
              </a:extLst>
            </p:cNvPr>
            <p:cNvSpPr/>
            <p:nvPr/>
          </p:nvSpPr>
          <p:spPr>
            <a:xfrm>
              <a:off x="1661765" y="2038329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D58EA39D-9496-325F-F0A8-080EAE373395}"/>
                </a:ext>
              </a:extLst>
            </p:cNvPr>
            <p:cNvSpPr/>
            <p:nvPr/>
          </p:nvSpPr>
          <p:spPr>
            <a:xfrm>
              <a:off x="1661765" y="3149625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67B7A7E8-1C9A-A3AA-9032-F544C820BCF7}"/>
                </a:ext>
              </a:extLst>
            </p:cNvPr>
            <p:cNvSpPr/>
            <p:nvPr/>
          </p:nvSpPr>
          <p:spPr>
            <a:xfrm>
              <a:off x="1661763" y="4225536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EDB4323D-D996-4E19-2470-DD83A8527C94}"/>
                </a:ext>
              </a:extLst>
            </p:cNvPr>
            <p:cNvSpPr/>
            <p:nvPr/>
          </p:nvSpPr>
          <p:spPr>
            <a:xfrm>
              <a:off x="1661765" y="5334449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A91E8320-214C-ECE5-185B-070BACC52B1A}"/>
                </a:ext>
              </a:extLst>
            </p:cNvPr>
            <p:cNvSpPr/>
            <p:nvPr/>
          </p:nvSpPr>
          <p:spPr>
            <a:xfrm>
              <a:off x="1661765" y="6469617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23AE616-72FD-88BE-DCE1-42E475D0A82E}"/>
              </a:ext>
            </a:extLst>
          </p:cNvPr>
          <p:cNvGrpSpPr/>
          <p:nvPr/>
        </p:nvGrpSpPr>
        <p:grpSpPr>
          <a:xfrm>
            <a:off x="8198506" y="1990771"/>
            <a:ext cx="3265538" cy="5451258"/>
            <a:chOff x="1627410" y="2071368"/>
            <a:chExt cx="3265538" cy="5451258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AC62C87-AD2B-2087-ACF9-2CAA56CEA1AE}"/>
                </a:ext>
              </a:extLst>
            </p:cNvPr>
            <p:cNvSpPr/>
            <p:nvPr/>
          </p:nvSpPr>
          <p:spPr>
            <a:xfrm>
              <a:off x="1627410" y="2071368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4D31111F-08DC-7187-0868-81E43692307B}"/>
                </a:ext>
              </a:extLst>
            </p:cNvPr>
            <p:cNvSpPr/>
            <p:nvPr/>
          </p:nvSpPr>
          <p:spPr>
            <a:xfrm>
              <a:off x="1661765" y="3142202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0FF154E-7345-B64F-853E-D83FF4271DF0}"/>
                </a:ext>
              </a:extLst>
            </p:cNvPr>
            <p:cNvSpPr/>
            <p:nvPr/>
          </p:nvSpPr>
          <p:spPr>
            <a:xfrm>
              <a:off x="1661763" y="4225536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EE5F2D7-2314-880B-EB6A-176FF0BC0ABB}"/>
                </a:ext>
              </a:extLst>
            </p:cNvPr>
            <p:cNvSpPr/>
            <p:nvPr/>
          </p:nvSpPr>
          <p:spPr>
            <a:xfrm>
              <a:off x="1661765" y="5326480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6C16E0EA-9CDE-C7F2-6481-965EFA3246B0}"/>
                </a:ext>
              </a:extLst>
            </p:cNvPr>
            <p:cNvSpPr/>
            <p:nvPr/>
          </p:nvSpPr>
          <p:spPr>
            <a:xfrm>
              <a:off x="1661764" y="6526085"/>
              <a:ext cx="3231183" cy="996541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3391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3343" y="1442936"/>
            <a:ext cx="4779526" cy="597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System Architecture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3343" y="3491032"/>
            <a:ext cx="605968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The system is split into two independent units that communicate wirelessly via Bluetooth.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33343" y="4180523"/>
            <a:ext cx="6059686" cy="1341477"/>
          </a:xfrm>
          <a:prstGeom prst="roundRect">
            <a:avLst>
              <a:gd name="adj" fmla="val 2036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33343" y="4180523"/>
            <a:ext cx="3029783" cy="1341477"/>
          </a:xfrm>
          <a:prstGeom prst="roundRect">
            <a:avLst>
              <a:gd name="adj" fmla="val 2036"/>
            </a:avLst>
          </a:prstGeom>
          <a:solidFill>
            <a:srgbClr val="00B0F0">
              <a:alpha val="1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15390" y="4362569"/>
            <a:ext cx="238970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🪖</a:t>
            </a: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Helmet Unit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5390" y="4814888"/>
            <a:ext cx="266569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Sensor → Arduino → Bluetooth TX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063127" y="4180523"/>
            <a:ext cx="3029903" cy="1341477"/>
          </a:xfrm>
          <a:prstGeom prst="rect">
            <a:avLst/>
          </a:prstGeom>
          <a:solidFill>
            <a:srgbClr val="00B0F0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063127" y="4180523"/>
            <a:ext cx="22860" cy="1341477"/>
          </a:xfrm>
          <a:prstGeom prst="roundRect">
            <a:avLst>
              <a:gd name="adj" fmla="val 119476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245173" y="4362569"/>
            <a:ext cx="238970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🏍️</a:t>
            </a: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Bike Unit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45173" y="4814888"/>
            <a:ext cx="2665809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Bluetooth RX → Arduino → Motor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613" y="1150680"/>
            <a:ext cx="6059686" cy="6059686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474" y="512207"/>
            <a:ext cx="6059686" cy="6059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58ABD6-3DB1-ABBF-583B-D96F18BAE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9571" y="7704535"/>
            <a:ext cx="1730829" cy="525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CD2C40-8C5A-FAF6-F147-FDEBB277A09E}"/>
              </a:ext>
            </a:extLst>
          </p:cNvPr>
          <p:cNvSpPr/>
          <p:nvPr/>
        </p:nvSpPr>
        <p:spPr>
          <a:xfrm>
            <a:off x="1249447" y="4584240"/>
            <a:ext cx="3810652" cy="2209800"/>
          </a:xfrm>
          <a:prstGeom prst="roundRect">
            <a:avLst/>
          </a:prstGeom>
          <a:solidFill>
            <a:srgbClr val="00B0F0">
              <a:alpha val="14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F176EE-593D-79D1-337A-7A993642B331}"/>
              </a:ext>
            </a:extLst>
          </p:cNvPr>
          <p:cNvSpPr/>
          <p:nvPr/>
        </p:nvSpPr>
        <p:spPr>
          <a:xfrm>
            <a:off x="5277556" y="4584241"/>
            <a:ext cx="3810652" cy="2209800"/>
          </a:xfrm>
          <a:prstGeom prst="roundRect">
            <a:avLst/>
          </a:prstGeom>
          <a:solidFill>
            <a:srgbClr val="00B0F0">
              <a:alpha val="14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3A0A83-CA05-A3B2-2238-4434C10AB418}"/>
              </a:ext>
            </a:extLst>
          </p:cNvPr>
          <p:cNvSpPr/>
          <p:nvPr/>
        </p:nvSpPr>
        <p:spPr>
          <a:xfrm>
            <a:off x="9305665" y="4584240"/>
            <a:ext cx="3810652" cy="2237321"/>
          </a:xfrm>
          <a:prstGeom prst="roundRect">
            <a:avLst/>
          </a:prstGeom>
          <a:solidFill>
            <a:srgbClr val="00B0F0">
              <a:alpha val="14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92AFBE-4E15-F1CB-878C-0A2739A2CE9B}"/>
              </a:ext>
            </a:extLst>
          </p:cNvPr>
          <p:cNvGrpSpPr/>
          <p:nvPr/>
        </p:nvGrpSpPr>
        <p:grpSpPr>
          <a:xfrm>
            <a:off x="1505570" y="4919343"/>
            <a:ext cx="11610746" cy="1392355"/>
            <a:chOff x="649127" y="3829412"/>
            <a:chExt cx="10165320" cy="1289727"/>
          </a:xfrm>
        </p:grpSpPr>
        <p:sp>
          <p:nvSpPr>
            <p:cNvPr id="15" name="TextBox 19">
              <a:extLst>
                <a:ext uri="{FF2B5EF4-FFF2-40B4-BE49-F238E27FC236}">
                  <a16:creationId xmlns:a16="http://schemas.microsoft.com/office/drawing/2014/main" id="{62452F16-6238-380A-61B9-2E21D5E553BC}"/>
                </a:ext>
              </a:extLst>
            </p:cNvPr>
            <p:cNvSpPr txBox="1"/>
            <p:nvPr/>
          </p:nvSpPr>
          <p:spPr>
            <a:xfrm>
              <a:off x="695604" y="3829412"/>
              <a:ext cx="2074656" cy="5753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Light"/>
                  <a:cs typeface="Times New Roman" panose="02020603050405020304" pitchFamily="18" charset="0"/>
                  <a:sym typeface="Petrona Light"/>
                </a:rPr>
                <a:t>04</a:t>
              </a:r>
            </a:p>
            <a:p>
              <a:pPr algn="l">
                <a:lnSpc>
                  <a:spcPts val="3261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Ignition Control</a:t>
              </a:r>
            </a:p>
          </p:txBody>
        </p:sp>
        <p:sp>
          <p:nvSpPr>
            <p:cNvPr id="16" name="TextBox 21">
              <a:extLst>
                <a:ext uri="{FF2B5EF4-FFF2-40B4-BE49-F238E27FC236}">
                  <a16:creationId xmlns:a16="http://schemas.microsoft.com/office/drawing/2014/main" id="{C18779B0-EE3E-9E6F-4410-BB10630F0484}"/>
                </a:ext>
              </a:extLst>
            </p:cNvPr>
            <p:cNvSpPr txBox="1"/>
            <p:nvPr/>
          </p:nvSpPr>
          <p:spPr>
            <a:xfrm>
              <a:off x="4153957" y="3829412"/>
              <a:ext cx="2078935" cy="5753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Light"/>
                  <a:cs typeface="Times New Roman" panose="02020603050405020304" pitchFamily="18" charset="0"/>
                  <a:sym typeface="Petrona Light"/>
                </a:rPr>
                <a:t>0</a:t>
              </a: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Light"/>
                  <a:cs typeface="Times New Roman" panose="02020603050405020304" pitchFamily="18" charset="0"/>
                  <a:sym typeface="Petrona Light"/>
                </a:rPr>
                <a:t>5</a:t>
              </a:r>
            </a:p>
            <a:p>
              <a:pPr algn="l">
                <a:lnSpc>
                  <a:spcPts val="3261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Motor Operation</a:t>
              </a:r>
            </a:p>
          </p:txBody>
        </p:sp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35FD733-4B21-E923-1D8C-4D82234D2645}"/>
                </a:ext>
              </a:extLst>
            </p:cNvPr>
            <p:cNvSpPr txBox="1"/>
            <p:nvPr/>
          </p:nvSpPr>
          <p:spPr>
            <a:xfrm>
              <a:off x="7692367" y="3829412"/>
              <a:ext cx="2979624" cy="5753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Light"/>
                  <a:cs typeface="Times New Roman" panose="02020603050405020304" pitchFamily="18" charset="0"/>
                  <a:sym typeface="Petrona Light"/>
                </a:rPr>
                <a:t>06</a:t>
              </a:r>
            </a:p>
            <a:p>
              <a:pPr algn="l">
                <a:lnSpc>
                  <a:spcPts val="3261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Continuous Monitoring</a:t>
              </a:r>
            </a:p>
          </p:txBody>
        </p:sp>
        <p:sp>
          <p:nvSpPr>
            <p:cNvPr id="18" name="TextBox 26">
              <a:extLst>
                <a:ext uri="{FF2B5EF4-FFF2-40B4-BE49-F238E27FC236}">
                  <a16:creationId xmlns:a16="http://schemas.microsoft.com/office/drawing/2014/main" id="{05FAA8A9-435D-BE81-32C0-B638379EC6CB}"/>
                </a:ext>
              </a:extLst>
            </p:cNvPr>
            <p:cNvSpPr txBox="1"/>
            <p:nvPr/>
          </p:nvSpPr>
          <p:spPr>
            <a:xfrm>
              <a:off x="1232002" y="4543920"/>
              <a:ext cx="49139" cy="349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0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19" name="TextBox 27">
              <a:extLst>
                <a:ext uri="{FF2B5EF4-FFF2-40B4-BE49-F238E27FC236}">
                  <a16:creationId xmlns:a16="http://schemas.microsoft.com/office/drawing/2014/main" id="{8B223D8A-1046-C044-DB68-F918DAEE88B4}"/>
                </a:ext>
              </a:extLst>
            </p:cNvPr>
            <p:cNvSpPr txBox="1"/>
            <p:nvPr/>
          </p:nvSpPr>
          <p:spPr>
            <a:xfrm>
              <a:off x="4619415" y="4543920"/>
              <a:ext cx="49139" cy="349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0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20" name="TextBox 30">
              <a:extLst>
                <a:ext uri="{FF2B5EF4-FFF2-40B4-BE49-F238E27FC236}">
                  <a16:creationId xmlns:a16="http://schemas.microsoft.com/office/drawing/2014/main" id="{31D9ECBB-B426-EF74-B3B3-F4D7EAAD160B}"/>
                </a:ext>
              </a:extLst>
            </p:cNvPr>
            <p:cNvSpPr txBox="1"/>
            <p:nvPr/>
          </p:nvSpPr>
          <p:spPr>
            <a:xfrm>
              <a:off x="8135693" y="4543920"/>
              <a:ext cx="49139" cy="349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0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21" name="TextBox 33">
              <a:extLst>
                <a:ext uri="{FF2B5EF4-FFF2-40B4-BE49-F238E27FC236}">
                  <a16:creationId xmlns:a16="http://schemas.microsoft.com/office/drawing/2014/main" id="{03DBCB08-85DE-EC88-5DA3-70E2C67A9065}"/>
                </a:ext>
              </a:extLst>
            </p:cNvPr>
            <p:cNvSpPr txBox="1"/>
            <p:nvPr/>
          </p:nvSpPr>
          <p:spPr>
            <a:xfrm>
              <a:off x="649127" y="4667744"/>
              <a:ext cx="3280631" cy="4513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Arduino enables or disables relay </a:t>
              </a:r>
            </a:p>
            <a:p>
              <a:pPr algn="l">
                <a:lnSpc>
                  <a:spcPts val="1890"/>
                </a:lnSpc>
              </a:pP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switch</a:t>
              </a:r>
            </a:p>
          </p:txBody>
        </p:sp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FE0E6A4B-2C9B-201C-5979-9D0F22F36A40}"/>
                </a:ext>
              </a:extLst>
            </p:cNvPr>
            <p:cNvSpPr txBox="1"/>
            <p:nvPr/>
          </p:nvSpPr>
          <p:spPr>
            <a:xfrm>
              <a:off x="4153957" y="4667745"/>
              <a:ext cx="3179759" cy="4513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Engine runs only when helmet is detected</a:t>
              </a:r>
            </a:p>
          </p:txBody>
        </p:sp>
        <p:sp>
          <p:nvSpPr>
            <p:cNvPr id="23" name="TextBox 37">
              <a:extLst>
                <a:ext uri="{FF2B5EF4-FFF2-40B4-BE49-F238E27FC236}">
                  <a16:creationId xmlns:a16="http://schemas.microsoft.com/office/drawing/2014/main" id="{54B3E3EF-4FE9-0806-BBB1-738BB51B92BD}"/>
                </a:ext>
              </a:extLst>
            </p:cNvPr>
            <p:cNvSpPr txBox="1"/>
            <p:nvPr/>
          </p:nvSpPr>
          <p:spPr>
            <a:xfrm>
              <a:off x="7692367" y="4667745"/>
              <a:ext cx="3122080" cy="4513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System tracks helmet status during ride</a:t>
              </a: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EE7C911-19F7-0662-9AD9-36F6BD81446B}"/>
              </a:ext>
            </a:extLst>
          </p:cNvPr>
          <p:cNvSpPr/>
          <p:nvPr/>
        </p:nvSpPr>
        <p:spPr>
          <a:xfrm>
            <a:off x="1180060" y="1953820"/>
            <a:ext cx="3805370" cy="2297478"/>
          </a:xfrm>
          <a:prstGeom prst="roundRect">
            <a:avLst/>
          </a:prstGeom>
          <a:solidFill>
            <a:srgbClr val="00B0F0">
              <a:alpha val="14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5D6D745-1BC3-AF87-C23A-D520081C0DD4}"/>
              </a:ext>
            </a:extLst>
          </p:cNvPr>
          <p:cNvSpPr/>
          <p:nvPr/>
        </p:nvSpPr>
        <p:spPr>
          <a:xfrm>
            <a:off x="5271876" y="1925207"/>
            <a:ext cx="3805370" cy="2297478"/>
          </a:xfrm>
          <a:prstGeom prst="roundRect">
            <a:avLst/>
          </a:prstGeom>
          <a:solidFill>
            <a:srgbClr val="00B0F0">
              <a:alpha val="14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0178BB4-64E7-1836-936F-D788E860984F}"/>
              </a:ext>
            </a:extLst>
          </p:cNvPr>
          <p:cNvSpPr/>
          <p:nvPr/>
        </p:nvSpPr>
        <p:spPr>
          <a:xfrm>
            <a:off x="9310946" y="1964367"/>
            <a:ext cx="3805370" cy="2258318"/>
          </a:xfrm>
          <a:prstGeom prst="roundRect">
            <a:avLst/>
          </a:prstGeom>
          <a:solidFill>
            <a:srgbClr val="00B0F0">
              <a:alpha val="14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9168EC-B2B7-BA69-FE4F-19F1F393EDE6}"/>
              </a:ext>
            </a:extLst>
          </p:cNvPr>
          <p:cNvGrpSpPr/>
          <p:nvPr/>
        </p:nvGrpSpPr>
        <p:grpSpPr>
          <a:xfrm>
            <a:off x="1637654" y="2290427"/>
            <a:ext cx="11073813" cy="1589717"/>
            <a:chOff x="597541" y="2057762"/>
            <a:chExt cx="10200304" cy="1529049"/>
          </a:xfrm>
        </p:grpSpPr>
        <p:sp>
          <p:nvSpPr>
            <p:cNvPr id="33" name="TextBox 16">
              <a:extLst>
                <a:ext uri="{FF2B5EF4-FFF2-40B4-BE49-F238E27FC236}">
                  <a16:creationId xmlns:a16="http://schemas.microsoft.com/office/drawing/2014/main" id="{2637F378-AD2E-554C-E6D6-BEE00D5D7EFD}"/>
                </a:ext>
              </a:extLst>
            </p:cNvPr>
            <p:cNvSpPr txBox="1"/>
            <p:nvPr/>
          </p:nvSpPr>
          <p:spPr>
            <a:xfrm>
              <a:off x="597541" y="2057762"/>
              <a:ext cx="2069459" cy="813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Light"/>
                  <a:cs typeface="Times New Roman" panose="02020603050405020304" pitchFamily="18" charset="0"/>
                  <a:sym typeface="Petrona Light"/>
                </a:rPr>
                <a:t>01</a:t>
              </a:r>
            </a:p>
            <a:p>
              <a:pPr algn="l">
                <a:lnSpc>
                  <a:spcPts val="3261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System</a:t>
              </a: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Power</a:t>
              </a:r>
              <a:r>
                <a:rPr 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ON</a:t>
              </a:r>
            </a:p>
          </p:txBody>
        </p:sp>
        <p:sp>
          <p:nvSpPr>
            <p:cNvPr id="34" name="TextBox 17">
              <a:extLst>
                <a:ext uri="{FF2B5EF4-FFF2-40B4-BE49-F238E27FC236}">
                  <a16:creationId xmlns:a16="http://schemas.microsoft.com/office/drawing/2014/main" id="{C2ECC425-D2B4-BBA5-3FED-7FA092469479}"/>
                </a:ext>
              </a:extLst>
            </p:cNvPr>
            <p:cNvSpPr txBox="1"/>
            <p:nvPr/>
          </p:nvSpPr>
          <p:spPr>
            <a:xfrm>
              <a:off x="4250157" y="2057762"/>
              <a:ext cx="2104761" cy="8075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Light"/>
                  <a:cs typeface="Times New Roman" panose="02020603050405020304" pitchFamily="18" charset="0"/>
                  <a:sym typeface="Petrona Light"/>
                </a:rPr>
                <a:t>02</a:t>
              </a:r>
            </a:p>
            <a:p>
              <a:pPr algn="l">
                <a:lnSpc>
                  <a:spcPts val="3261"/>
                </a:lnSpc>
              </a:pPr>
              <a:r>
                <a:rPr lang="en-US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Sensor Detection</a:t>
              </a:r>
            </a:p>
          </p:txBody>
        </p:sp>
        <p:sp>
          <p:nvSpPr>
            <p:cNvPr id="35" name="TextBox 18">
              <a:extLst>
                <a:ext uri="{FF2B5EF4-FFF2-40B4-BE49-F238E27FC236}">
                  <a16:creationId xmlns:a16="http://schemas.microsoft.com/office/drawing/2014/main" id="{F7C2C610-8252-5DBD-0ABD-64C74A405E17}"/>
                </a:ext>
              </a:extLst>
            </p:cNvPr>
            <p:cNvSpPr txBox="1"/>
            <p:nvPr/>
          </p:nvSpPr>
          <p:spPr>
            <a:xfrm>
              <a:off x="1337224" y="2529240"/>
              <a:ext cx="50254" cy="3513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03"/>
                </a:lnSpc>
              </a:pPr>
              <a:r>
                <a:rPr lang="en-US" sz="1771" b="1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 </a:t>
              </a:r>
            </a:p>
          </p:txBody>
        </p:sp>
        <p:sp>
          <p:nvSpPr>
            <p:cNvPr id="36" name="TextBox 23">
              <a:extLst>
                <a:ext uri="{FF2B5EF4-FFF2-40B4-BE49-F238E27FC236}">
                  <a16:creationId xmlns:a16="http://schemas.microsoft.com/office/drawing/2014/main" id="{56A4A7F1-17E3-5FD9-7807-1DB9C6AA44F6}"/>
                </a:ext>
              </a:extLst>
            </p:cNvPr>
            <p:cNvSpPr txBox="1"/>
            <p:nvPr/>
          </p:nvSpPr>
          <p:spPr>
            <a:xfrm>
              <a:off x="8046149" y="2200637"/>
              <a:ext cx="2271170" cy="6211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Light"/>
                  <a:cs typeface="Times New Roman" panose="02020603050405020304" pitchFamily="18" charset="0"/>
                  <a:sym typeface="Petrona Light"/>
                </a:rPr>
                <a:t>03</a:t>
              </a:r>
            </a:p>
            <a:p>
              <a:pPr algn="l">
                <a:lnSpc>
                  <a:spcPts val="3261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Signal Transmission</a:t>
              </a:r>
            </a:p>
          </p:txBody>
        </p:sp>
        <p:sp>
          <p:nvSpPr>
            <p:cNvPr id="37" name="TextBox 25">
              <a:extLst>
                <a:ext uri="{FF2B5EF4-FFF2-40B4-BE49-F238E27FC236}">
                  <a16:creationId xmlns:a16="http://schemas.microsoft.com/office/drawing/2014/main" id="{FF0244E7-1ED3-5A1C-B529-FFC404BB1E12}"/>
                </a:ext>
              </a:extLst>
            </p:cNvPr>
            <p:cNvSpPr txBox="1"/>
            <p:nvPr/>
          </p:nvSpPr>
          <p:spPr>
            <a:xfrm>
              <a:off x="972464" y="2915145"/>
              <a:ext cx="49139" cy="349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0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38" name="TextBox 28">
              <a:extLst>
                <a:ext uri="{FF2B5EF4-FFF2-40B4-BE49-F238E27FC236}">
                  <a16:creationId xmlns:a16="http://schemas.microsoft.com/office/drawing/2014/main" id="{444C5B50-D944-AB95-ECDF-FF8BB52FECAB}"/>
                </a:ext>
              </a:extLst>
            </p:cNvPr>
            <p:cNvSpPr txBox="1"/>
            <p:nvPr/>
          </p:nvSpPr>
          <p:spPr>
            <a:xfrm>
              <a:off x="4642218" y="2915145"/>
              <a:ext cx="49139" cy="349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0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39" name="TextBox 29">
              <a:extLst>
                <a:ext uri="{FF2B5EF4-FFF2-40B4-BE49-F238E27FC236}">
                  <a16:creationId xmlns:a16="http://schemas.microsoft.com/office/drawing/2014/main" id="{D2128395-DE29-1A6D-9DC0-FED5349F7FB9}"/>
                </a:ext>
              </a:extLst>
            </p:cNvPr>
            <p:cNvSpPr txBox="1"/>
            <p:nvPr/>
          </p:nvSpPr>
          <p:spPr>
            <a:xfrm>
              <a:off x="8306857" y="2915145"/>
              <a:ext cx="49139" cy="349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60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40" name="TextBox 31">
              <a:extLst>
                <a:ext uri="{FF2B5EF4-FFF2-40B4-BE49-F238E27FC236}">
                  <a16:creationId xmlns:a16="http://schemas.microsoft.com/office/drawing/2014/main" id="{F0147161-B707-09AC-AED8-D29B3EDA0858}"/>
                </a:ext>
              </a:extLst>
            </p:cNvPr>
            <p:cNvSpPr txBox="1"/>
            <p:nvPr/>
          </p:nvSpPr>
          <p:spPr>
            <a:xfrm>
              <a:off x="600075" y="3038970"/>
              <a:ext cx="2901296" cy="487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Both helmet and bike units initialize</a:t>
              </a:r>
            </a:p>
          </p:txBody>
        </p:sp>
        <p:sp>
          <p:nvSpPr>
            <p:cNvPr id="41" name="TextBox 35">
              <a:extLst>
                <a:ext uri="{FF2B5EF4-FFF2-40B4-BE49-F238E27FC236}">
                  <a16:creationId xmlns:a16="http://schemas.microsoft.com/office/drawing/2014/main" id="{B3E32A04-7E5F-330C-35C4-39A4E40BF250}"/>
                </a:ext>
              </a:extLst>
            </p:cNvPr>
            <p:cNvSpPr txBox="1"/>
            <p:nvPr/>
          </p:nvSpPr>
          <p:spPr>
            <a:xfrm>
              <a:off x="4250157" y="3038969"/>
              <a:ext cx="3139367" cy="5478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74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Helmet proximity sensor checks wearer presence</a:t>
              </a:r>
            </a:p>
          </p:txBody>
        </p:sp>
        <p:sp>
          <p:nvSpPr>
            <p:cNvPr id="42" name="TextBox 36">
              <a:extLst>
                <a:ext uri="{FF2B5EF4-FFF2-40B4-BE49-F238E27FC236}">
                  <a16:creationId xmlns:a16="http://schemas.microsoft.com/office/drawing/2014/main" id="{F0318FA0-3961-EE6F-DA5C-0F965711B22F}"/>
                </a:ext>
              </a:extLst>
            </p:cNvPr>
            <p:cNvSpPr txBox="1"/>
            <p:nvPr/>
          </p:nvSpPr>
          <p:spPr>
            <a:xfrm>
              <a:off x="4250157" y="3264189"/>
              <a:ext cx="1236242" cy="2657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74"/>
                </a:lnSpc>
              </a:pPr>
              <a:endPara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</p:txBody>
        </p:sp>
        <p:sp>
          <p:nvSpPr>
            <p:cNvPr id="43" name="TextBox 38">
              <a:extLst>
                <a:ext uri="{FF2B5EF4-FFF2-40B4-BE49-F238E27FC236}">
                  <a16:creationId xmlns:a16="http://schemas.microsoft.com/office/drawing/2014/main" id="{3FA96096-37DF-64D5-E1FF-5E14A8A62E58}"/>
                </a:ext>
              </a:extLst>
            </p:cNvPr>
            <p:cNvSpPr txBox="1"/>
            <p:nvPr/>
          </p:nvSpPr>
          <p:spPr>
            <a:xfrm>
              <a:off x="8046149" y="3038970"/>
              <a:ext cx="2751696" cy="4873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Bluetooth sends status (1/0) to bike unit</a:t>
              </a:r>
            </a:p>
          </p:txBody>
        </p:sp>
      </p:grpSp>
      <p:sp>
        <p:nvSpPr>
          <p:cNvPr id="44" name="TextBox 15">
            <a:extLst>
              <a:ext uri="{FF2B5EF4-FFF2-40B4-BE49-F238E27FC236}">
                <a16:creationId xmlns:a16="http://schemas.microsoft.com/office/drawing/2014/main" id="{9E2BAE01-ACAF-1E2D-859A-1E40CD0139AB}"/>
              </a:ext>
            </a:extLst>
          </p:cNvPr>
          <p:cNvSpPr txBox="1"/>
          <p:nvPr/>
        </p:nvSpPr>
        <p:spPr>
          <a:xfrm>
            <a:off x="1180060" y="1040398"/>
            <a:ext cx="4733925" cy="293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  <a:sym typeface="Petrona Bold"/>
              </a:rPr>
              <a:t>Working Principle</a:t>
            </a:r>
          </a:p>
        </p:txBody>
      </p:sp>
    </p:spTree>
    <p:extLst>
      <p:ext uri="{BB962C8B-B14F-4D97-AF65-F5344CB8AC3E}">
        <p14:creationId xmlns:p14="http://schemas.microsoft.com/office/powerpoint/2010/main" val="409084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00C56B-5ABE-6D9F-929E-B347BC580F1F}"/>
              </a:ext>
            </a:extLst>
          </p:cNvPr>
          <p:cNvGrpSpPr/>
          <p:nvPr/>
        </p:nvGrpSpPr>
        <p:grpSpPr>
          <a:xfrm>
            <a:off x="1221050" y="306813"/>
            <a:ext cx="12461082" cy="7414384"/>
            <a:chOff x="-166633" y="744026"/>
            <a:chExt cx="12004835" cy="649649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C61B5D5-91D6-D73C-763A-5AA7CBE1C47C}"/>
                </a:ext>
              </a:extLst>
            </p:cNvPr>
            <p:cNvSpPr txBox="1"/>
            <p:nvPr/>
          </p:nvSpPr>
          <p:spPr>
            <a:xfrm>
              <a:off x="600074" y="744026"/>
              <a:ext cx="5114925" cy="6011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961"/>
                </a:lnSpc>
              </a:pPr>
              <a:r>
                <a: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Team Contributions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0E0DB21-EBFA-F5EB-B8C0-6D8A125FBEC5}"/>
                </a:ext>
              </a:extLst>
            </p:cNvPr>
            <p:cNvGrpSpPr/>
            <p:nvPr/>
          </p:nvGrpSpPr>
          <p:grpSpPr>
            <a:xfrm>
              <a:off x="6200240" y="5497342"/>
              <a:ext cx="3149637" cy="730706"/>
              <a:chOff x="6187577" y="5448286"/>
              <a:chExt cx="3149637" cy="730706"/>
            </a:xfrm>
          </p:grpSpPr>
          <p:sp>
            <p:nvSpPr>
              <p:cNvPr id="28" name="TextBox 11">
                <a:extLst>
                  <a:ext uri="{FF2B5EF4-FFF2-40B4-BE49-F238E27FC236}">
                    <a16:creationId xmlns:a16="http://schemas.microsoft.com/office/drawing/2014/main" id="{A7C981C6-2D26-4E58-6003-7ADE7E722F3B}"/>
                  </a:ext>
                </a:extLst>
              </p:cNvPr>
              <p:cNvSpPr txBox="1"/>
              <p:nvPr/>
            </p:nvSpPr>
            <p:spPr>
              <a:xfrm>
                <a:off x="6187577" y="5448286"/>
                <a:ext cx="3149637" cy="37747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261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Bike Arduino Code</a:t>
                </a:r>
              </a:p>
            </p:txBody>
          </p:sp>
          <p:sp>
            <p:nvSpPr>
              <p:cNvPr id="29" name="TextBox 12">
                <a:extLst>
                  <a:ext uri="{FF2B5EF4-FFF2-40B4-BE49-F238E27FC236}">
                    <a16:creationId xmlns:a16="http://schemas.microsoft.com/office/drawing/2014/main" id="{A5D8F0E6-253C-5C38-1000-0E646D1537E9}"/>
                  </a:ext>
                </a:extLst>
              </p:cNvPr>
              <p:cNvSpPr txBox="1"/>
              <p:nvPr/>
            </p:nvSpPr>
            <p:spPr>
              <a:xfrm>
                <a:off x="6463655" y="5829948"/>
                <a:ext cx="49139" cy="34904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160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</p:grp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421DA3D5-835E-5F13-35E4-2C8FC5AFB1A9}"/>
                </a:ext>
              </a:extLst>
            </p:cNvPr>
            <p:cNvSpPr txBox="1"/>
            <p:nvPr/>
          </p:nvSpPr>
          <p:spPr>
            <a:xfrm>
              <a:off x="2117418" y="5513627"/>
              <a:ext cx="49139" cy="33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8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54E478-60E8-36E1-6055-1C8A7CE67D46}"/>
                </a:ext>
              </a:extLst>
            </p:cNvPr>
            <p:cNvSpPr txBox="1"/>
            <p:nvPr/>
          </p:nvSpPr>
          <p:spPr>
            <a:xfrm>
              <a:off x="1432527" y="2749385"/>
              <a:ext cx="49139" cy="33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8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3ECCAAF-A3F3-0C54-AB49-85A27113FC12}"/>
                </a:ext>
              </a:extLst>
            </p:cNvPr>
            <p:cNvSpPr/>
            <p:nvPr/>
          </p:nvSpPr>
          <p:spPr>
            <a:xfrm>
              <a:off x="3802922" y="2256004"/>
              <a:ext cx="3505200" cy="2161569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00EFD48A-498D-F7AF-70B9-D50611B1E7E5}"/>
                </a:ext>
              </a:extLst>
            </p:cNvPr>
            <p:cNvSpPr txBox="1"/>
            <p:nvPr/>
          </p:nvSpPr>
          <p:spPr>
            <a:xfrm>
              <a:off x="310263" y="2563236"/>
              <a:ext cx="2133249" cy="3223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Helmet Hadware</a:t>
              </a: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6B2157D6-50DF-4DF3-CD09-204C474042E5}"/>
                </a:ext>
              </a:extLst>
            </p:cNvPr>
            <p:cNvSpPr txBox="1"/>
            <p:nvPr/>
          </p:nvSpPr>
          <p:spPr>
            <a:xfrm>
              <a:off x="1584927" y="2901785"/>
              <a:ext cx="49139" cy="33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8"/>
                </a:lnSpc>
              </a:pPr>
              <a:r>
                <a:rPr lang="en-US" sz="135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CEAD74C-EE4F-2AC0-D16A-15B82857BC26}"/>
                </a:ext>
              </a:extLst>
            </p:cNvPr>
            <p:cNvSpPr txBox="1"/>
            <p:nvPr/>
          </p:nvSpPr>
          <p:spPr>
            <a:xfrm>
              <a:off x="310264" y="2890010"/>
              <a:ext cx="3005233" cy="1388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4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Assembled helmet circuit using proximity sensor, LED, and buzzer components. Ensured proper wiring and verified functionality before coding phase.</a:t>
              </a:r>
            </a:p>
          </p:txBody>
        </p:sp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B937E4F5-DC39-D94E-D8D9-0A315907EF2F}"/>
                </a:ext>
              </a:extLst>
            </p:cNvPr>
            <p:cNvSpPr txBox="1"/>
            <p:nvPr/>
          </p:nvSpPr>
          <p:spPr>
            <a:xfrm>
              <a:off x="4251970" y="2569957"/>
              <a:ext cx="2520586" cy="3678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192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Helmet Arduino Code</a:t>
              </a:r>
            </a:p>
          </p:txBody>
        </p: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8EA76640-18D6-F0A5-B903-54394652DFB7}"/>
                </a:ext>
              </a:extLst>
            </p:cNvPr>
            <p:cNvSpPr txBox="1"/>
            <p:nvPr/>
          </p:nvSpPr>
          <p:spPr>
            <a:xfrm>
              <a:off x="4218074" y="2981340"/>
              <a:ext cx="2993850" cy="1388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4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Developed detection algorithm to identify helmet usage. Programmed LED and buzzer indicators. Implemented Bluetooth signal transmission (1/0).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D1C74B7-F49B-2B55-15FD-A58660359214}"/>
                </a:ext>
              </a:extLst>
            </p:cNvPr>
            <p:cNvSpPr/>
            <p:nvPr/>
          </p:nvSpPr>
          <p:spPr>
            <a:xfrm>
              <a:off x="7775058" y="2231887"/>
              <a:ext cx="3505200" cy="2209800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918D390A-08BF-6798-97C2-7A6A418F48AF}"/>
                </a:ext>
              </a:extLst>
            </p:cNvPr>
            <p:cNvSpPr txBox="1"/>
            <p:nvPr/>
          </p:nvSpPr>
          <p:spPr>
            <a:xfrm>
              <a:off x="8107837" y="2631972"/>
              <a:ext cx="2978734" cy="1708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80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Bluetooth Communication</a:t>
              </a:r>
            </a:p>
            <a:p>
              <a:pPr algn="l">
                <a:lnSpc>
                  <a:spcPts val="2174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Paired HC-05 modules between helmet and bike units. Ensured stable wireless connection and tested signal transmission reliability.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65A9845-56D9-D886-5589-E7F5D44F3802}"/>
                </a:ext>
              </a:extLst>
            </p:cNvPr>
            <p:cNvSpPr/>
            <p:nvPr/>
          </p:nvSpPr>
          <p:spPr>
            <a:xfrm>
              <a:off x="257003" y="4959455"/>
              <a:ext cx="5359718" cy="2209800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4728F1B0-5588-A5B7-5A60-8231F7D812B6}"/>
                </a:ext>
              </a:extLst>
            </p:cNvPr>
            <p:cNvSpPr txBox="1"/>
            <p:nvPr/>
          </p:nvSpPr>
          <p:spPr>
            <a:xfrm>
              <a:off x="623759" y="5483573"/>
              <a:ext cx="4607681" cy="1137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80"/>
                </a:lnSpc>
              </a:pPr>
              <a:r>
                <a:rPr lang="en-US" sz="20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rPr>
                <a:t>Bike Hardware</a:t>
              </a:r>
            </a:p>
            <a:p>
              <a:pPr algn="l">
                <a:lnSpc>
                  <a:spcPts val="2150"/>
                </a:lnSpc>
              </a:pPr>
              <a:r>
                <a:rPr lang="en-US" sz="16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Built bike-side circuit with relay and DC motor. Connected external battery power supply. Verified safe relay switching operations.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514A40B-BA0B-90BF-9BB1-A487E29EDF21}"/>
                </a:ext>
              </a:extLst>
            </p:cNvPr>
            <p:cNvSpPr/>
            <p:nvPr/>
          </p:nvSpPr>
          <p:spPr>
            <a:xfrm>
              <a:off x="6055165" y="5030724"/>
              <a:ext cx="5783037" cy="2209800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86DA45A-68B1-F793-2A2D-F50A5A1CDAA7}"/>
                </a:ext>
              </a:extLst>
            </p:cNvPr>
            <p:cNvGrpSpPr/>
            <p:nvPr/>
          </p:nvGrpSpPr>
          <p:grpSpPr>
            <a:xfrm>
              <a:off x="6196366" y="5786581"/>
              <a:ext cx="4669774" cy="903765"/>
              <a:chOff x="5981700" y="5829948"/>
              <a:chExt cx="4669774" cy="903765"/>
            </a:xfrm>
          </p:grpSpPr>
          <p:sp>
            <p:nvSpPr>
              <p:cNvPr id="25" name="TextBox 12">
                <a:extLst>
                  <a:ext uri="{FF2B5EF4-FFF2-40B4-BE49-F238E27FC236}">
                    <a16:creationId xmlns:a16="http://schemas.microsoft.com/office/drawing/2014/main" id="{CAA04405-94D5-DE8C-0FD1-EE6F37AE85EF}"/>
                  </a:ext>
                </a:extLst>
              </p:cNvPr>
              <p:cNvSpPr txBox="1"/>
              <p:nvPr/>
            </p:nvSpPr>
            <p:spPr>
              <a:xfrm>
                <a:off x="6463655" y="5829948"/>
                <a:ext cx="49139" cy="34904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160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26" name="TextBox 16">
                <a:extLst>
                  <a:ext uri="{FF2B5EF4-FFF2-40B4-BE49-F238E27FC236}">
                    <a16:creationId xmlns:a16="http://schemas.microsoft.com/office/drawing/2014/main" id="{77E1A47F-9B30-000D-1F96-59B950C1CC87}"/>
                  </a:ext>
                </a:extLst>
              </p:cNvPr>
              <p:cNvSpPr txBox="1"/>
              <p:nvPr/>
            </p:nvSpPr>
            <p:spPr>
              <a:xfrm>
                <a:off x="5981700" y="5925198"/>
                <a:ext cx="4159710" cy="25968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2150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Wrote receiver code to process Bluetooth signals. </a:t>
                </a:r>
              </a:p>
            </p:txBody>
          </p:sp>
          <p:sp>
            <p:nvSpPr>
              <p:cNvPr id="27" name="TextBox 17">
                <a:extLst>
                  <a:ext uri="{FF2B5EF4-FFF2-40B4-BE49-F238E27FC236}">
                    <a16:creationId xmlns:a16="http://schemas.microsoft.com/office/drawing/2014/main" id="{534B850B-55A3-69FC-A341-C42F8A65520B}"/>
                  </a:ext>
                </a:extLst>
              </p:cNvPr>
              <p:cNvSpPr txBox="1"/>
              <p:nvPr/>
            </p:nvSpPr>
            <p:spPr>
              <a:xfrm>
                <a:off x="5981700" y="6191898"/>
                <a:ext cx="4669774" cy="54181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2150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Implemented relay </a:t>
                </a:r>
                <a:r>
                  <a:rPr lang="en-US" sz="1600" dirty="0" err="1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crequiresontrol</a:t>
                </a: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logic based on helmet status. Ensured motor operation helmet detection.</a:t>
                </a:r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A9F114D-F027-7441-195B-9706B1F1B7D7}"/>
                </a:ext>
              </a:extLst>
            </p:cNvPr>
            <p:cNvSpPr/>
            <p:nvPr/>
          </p:nvSpPr>
          <p:spPr>
            <a:xfrm>
              <a:off x="-166633" y="2231886"/>
              <a:ext cx="3601397" cy="2209800"/>
            </a:xfrm>
            <a:prstGeom prst="roundRect">
              <a:avLst/>
            </a:prstGeom>
            <a:solidFill>
              <a:srgbClr val="00B0F0">
                <a:alpha val="14000"/>
              </a:srgb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671813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639604"/>
            <a:ext cx="5840611" cy="730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Website &amp; Output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8669" y="1915239"/>
            <a:ext cx="2920246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🌐</a:t>
            </a:r>
            <a:r>
              <a:rPr lang="en-US" sz="24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Project Website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8669" y="2533412"/>
            <a:ext cx="22240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 Light" pitchFamily="34" charset="-122"/>
                <a:cs typeface="Times New Roman" panose="02020603050405020304" pitchFamily="18" charset="0"/>
              </a:rPr>
              <a:t>01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8669" y="2880955"/>
            <a:ext cx="6265188" cy="3048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6" name="Text 4"/>
          <p:cNvSpPr/>
          <p:nvPr/>
        </p:nvSpPr>
        <p:spPr>
          <a:xfrm>
            <a:off x="778669" y="3053120"/>
            <a:ext cx="6265188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Home Page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— Project overview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8669" y="3790712"/>
            <a:ext cx="22240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 Light" pitchFamily="34" charset="-122"/>
                <a:cs typeface="Times New Roman" panose="02020603050405020304" pitchFamily="18" charset="0"/>
              </a:rPr>
              <a:t>02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8669" y="4138255"/>
            <a:ext cx="6265188" cy="3048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9" name="Text 7"/>
          <p:cNvSpPr/>
          <p:nvPr/>
        </p:nvSpPr>
        <p:spPr>
          <a:xfrm>
            <a:off x="778669" y="4310420"/>
            <a:ext cx="6265188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How It Works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— System explanation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8669" y="5048012"/>
            <a:ext cx="22240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 Light" pitchFamily="34" charset="-122"/>
                <a:cs typeface="Times New Roman" panose="02020603050405020304" pitchFamily="18" charset="0"/>
              </a:rPr>
              <a:t>03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8669" y="5395555"/>
            <a:ext cx="6265188" cy="3048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2" name="Text 10"/>
          <p:cNvSpPr/>
          <p:nvPr/>
        </p:nvSpPr>
        <p:spPr>
          <a:xfrm>
            <a:off x="778669" y="5567720"/>
            <a:ext cx="6265188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Components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— Hardware details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8669" y="6305312"/>
            <a:ext cx="22240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PT Serif Light" pitchFamily="34" charset="-122"/>
                <a:cs typeface="Times New Roman" panose="02020603050405020304" pitchFamily="18" charset="0"/>
              </a:rPr>
              <a:t>04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8669" y="6652855"/>
            <a:ext cx="6265188" cy="3048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8669" y="6825020"/>
            <a:ext cx="6265188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Instructions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— Setup &amp; usage guide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94163" y="1915239"/>
            <a:ext cx="2920246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✅</a:t>
            </a:r>
            <a:r>
              <a:rPr lang="en-US" sz="2400" dirty="0">
                <a:solidFill>
                  <a:srgbClr val="020202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 Output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94163" y="2533412"/>
            <a:ext cx="3023473" cy="1794153"/>
          </a:xfrm>
          <a:prstGeom prst="roundRect">
            <a:avLst>
              <a:gd name="adj" fmla="val 8154"/>
            </a:avLst>
          </a:prstGeom>
          <a:solidFill>
            <a:srgbClr val="00B0F0">
              <a:alpha val="14000"/>
            </a:srgbClr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8492" y="2786301"/>
            <a:ext cx="2426256" cy="365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Helmet 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38492" y="3369588"/>
            <a:ext cx="2426256" cy="70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LED ON · Motor ON · Bluetooth confirmed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835878" y="2533412"/>
            <a:ext cx="3023473" cy="1794153"/>
          </a:xfrm>
          <a:prstGeom prst="roundRect">
            <a:avLst>
              <a:gd name="adj" fmla="val 8154"/>
            </a:avLst>
          </a:prstGeom>
          <a:solidFill>
            <a:srgbClr val="00B0F0">
              <a:alpha val="14000"/>
            </a:srgbClr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80207" y="2786301"/>
            <a:ext cx="2426256" cy="365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Times New Roman" panose="02020603050405020304" pitchFamily="18" charset="0"/>
                <a:ea typeface="PT Serif" pitchFamily="34" charset="-122"/>
                <a:cs typeface="Times New Roman" panose="02020603050405020304" pitchFamily="18" charset="0"/>
              </a:rPr>
              <a:t>Helmet Off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180207" y="3369588"/>
            <a:ext cx="2426256" cy="70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Motor OFF · Buzzer alert triggered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F38D217-8523-4317-B077-85BFC4732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7614" y="7664767"/>
            <a:ext cx="2238687" cy="4953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46CCA27-4027-5723-A9CA-8F0A0311ABB2}"/>
              </a:ext>
            </a:extLst>
          </p:cNvPr>
          <p:cNvSpPr txBox="1"/>
          <p:nvPr/>
        </p:nvSpPr>
        <p:spPr>
          <a:xfrm>
            <a:off x="7938492" y="5048012"/>
            <a:ext cx="5434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https://smarthelmate.netlify.app/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59EDE6F2-77AA-1ED7-D9DE-5C9A202851F1}"/>
              </a:ext>
            </a:extLst>
          </p:cNvPr>
          <p:cNvGrpSpPr/>
          <p:nvPr/>
        </p:nvGrpSpPr>
        <p:grpSpPr>
          <a:xfrm>
            <a:off x="1691640" y="541604"/>
            <a:ext cx="11020549" cy="6849795"/>
            <a:chOff x="2398128" y="127400"/>
            <a:chExt cx="10793978" cy="651724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5CD11CA-DB2A-4216-8909-D7C4DCA64EEE}"/>
                </a:ext>
              </a:extLst>
            </p:cNvPr>
            <p:cNvGrpSpPr/>
            <p:nvPr/>
          </p:nvGrpSpPr>
          <p:grpSpPr>
            <a:xfrm>
              <a:off x="2576403" y="127400"/>
              <a:ext cx="10615703" cy="6517240"/>
              <a:chOff x="600075" y="775784"/>
              <a:chExt cx="9684734" cy="6078060"/>
            </a:xfrm>
          </p:grpSpPr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A1FAE7DD-07BA-2D91-06FF-44E451C8F7E5}"/>
                  </a:ext>
                </a:extLst>
              </p:cNvPr>
              <p:cNvSpPr txBox="1"/>
              <p:nvPr/>
            </p:nvSpPr>
            <p:spPr>
              <a:xfrm>
                <a:off x="600075" y="775784"/>
                <a:ext cx="7306304" cy="68768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5946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Benefits &amp; Future Development</a:t>
                </a:r>
                <a:endParaRPr lang="en-US" sz="2126" b="1" dirty="0">
                  <a:solidFill>
                    <a:srgbClr val="325F7B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  <a:sym typeface="Petrona Bold"/>
                </a:endParaRPr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5E617F62-2AC3-DF99-3E99-19C4970F0518}"/>
                  </a:ext>
                </a:extLst>
              </p:cNvPr>
              <p:cNvSpPr txBox="1"/>
              <p:nvPr/>
            </p:nvSpPr>
            <p:spPr>
              <a:xfrm>
                <a:off x="6759750" y="1645874"/>
                <a:ext cx="60322" cy="5954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5315"/>
                  </a:lnSpc>
                </a:pPr>
                <a:r>
                  <a:rPr lang="en-US" sz="2126" b="1">
                    <a:solidFill>
                      <a:srgbClr val="325F7B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 </a:t>
                </a:r>
              </a:p>
            </p:txBody>
          </p:sp>
          <p:sp>
            <p:nvSpPr>
              <p:cNvPr id="14" name="TextBox 10">
                <a:extLst>
                  <a:ext uri="{FF2B5EF4-FFF2-40B4-BE49-F238E27FC236}">
                    <a16:creationId xmlns:a16="http://schemas.microsoft.com/office/drawing/2014/main" id="{A3B8DD5F-C464-35CF-D24D-2E1FBF876B8C}"/>
                  </a:ext>
                </a:extLst>
              </p:cNvPr>
              <p:cNvSpPr txBox="1"/>
              <p:nvPr/>
            </p:nvSpPr>
            <p:spPr>
              <a:xfrm>
                <a:off x="6212233" y="1738173"/>
                <a:ext cx="1770908" cy="50494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4528"/>
                  </a:lnSpc>
                </a:pPr>
                <a:r>
                  <a:rPr lang="en-US" sz="2400" b="1" dirty="0">
                    <a:solidFill>
                      <a:srgbClr val="325F7B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Future</a:t>
                </a:r>
                <a:r>
                  <a:rPr 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 </a:t>
                </a:r>
                <a:r>
                  <a:rPr lang="en-US" sz="2400" b="1" dirty="0">
                    <a:solidFill>
                      <a:srgbClr val="325F7B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Scope</a:t>
                </a:r>
              </a:p>
            </p:txBody>
          </p:sp>
          <p:sp>
            <p:nvSpPr>
              <p:cNvPr id="15" name="TextBox 11">
                <a:extLst>
                  <a:ext uri="{FF2B5EF4-FFF2-40B4-BE49-F238E27FC236}">
                    <a16:creationId xmlns:a16="http://schemas.microsoft.com/office/drawing/2014/main" id="{B7F64B5F-790E-9D24-4941-F7453C0CE7AD}"/>
                  </a:ext>
                </a:extLst>
              </p:cNvPr>
              <p:cNvSpPr txBox="1"/>
              <p:nvPr/>
            </p:nvSpPr>
            <p:spPr>
              <a:xfrm>
                <a:off x="6905520" y="2284925"/>
                <a:ext cx="50254" cy="48500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375"/>
                  </a:lnSpc>
                </a:pPr>
                <a:r>
                  <a:rPr lang="en-US" sz="1771" b="1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 </a:t>
                </a:r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037E8FDB-C382-61BA-DC5E-94B36BC37FAE}"/>
                  </a:ext>
                </a:extLst>
              </p:cNvPr>
              <p:cNvSpPr txBox="1"/>
              <p:nvPr/>
            </p:nvSpPr>
            <p:spPr>
              <a:xfrm>
                <a:off x="1157288" y="4599500"/>
                <a:ext cx="2065372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734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Cost-Effective</a:t>
                </a:r>
              </a:p>
            </p:txBody>
          </p:sp>
          <p:sp>
            <p:nvSpPr>
              <p:cNvPr id="17" name="TextBox 13">
                <a:extLst>
                  <a:ext uri="{FF2B5EF4-FFF2-40B4-BE49-F238E27FC236}">
                    <a16:creationId xmlns:a16="http://schemas.microsoft.com/office/drawing/2014/main" id="{8F225743-747D-BE63-B865-56EF9D4AA296}"/>
                  </a:ext>
                </a:extLst>
              </p:cNvPr>
              <p:cNvSpPr txBox="1"/>
              <p:nvPr/>
            </p:nvSpPr>
            <p:spPr>
              <a:xfrm>
                <a:off x="2002927" y="5090181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18" name="TextBox 14">
                <a:extLst>
                  <a:ext uri="{FF2B5EF4-FFF2-40B4-BE49-F238E27FC236}">
                    <a16:creationId xmlns:a16="http://schemas.microsoft.com/office/drawing/2014/main" id="{ADE8288D-6E4D-770E-BB5E-7044401705EE}"/>
                  </a:ext>
                </a:extLst>
              </p:cNvPr>
              <p:cNvSpPr txBox="1"/>
              <p:nvPr/>
            </p:nvSpPr>
            <p:spPr>
              <a:xfrm>
                <a:off x="1157288" y="2342075"/>
                <a:ext cx="2065372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734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Enhanced Safety</a:t>
                </a:r>
              </a:p>
            </p:txBody>
          </p:sp>
          <p:sp>
            <p:nvSpPr>
              <p:cNvPr id="19" name="TextBox 15">
                <a:extLst>
                  <a:ext uri="{FF2B5EF4-FFF2-40B4-BE49-F238E27FC236}">
                    <a16:creationId xmlns:a16="http://schemas.microsoft.com/office/drawing/2014/main" id="{11432E3D-44BC-1A82-B37E-5B17094E79D5}"/>
                  </a:ext>
                </a:extLst>
              </p:cNvPr>
              <p:cNvSpPr txBox="1"/>
              <p:nvPr/>
            </p:nvSpPr>
            <p:spPr>
              <a:xfrm>
                <a:off x="2031778" y="2832756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20" name="TextBox 16">
                <a:extLst>
                  <a:ext uri="{FF2B5EF4-FFF2-40B4-BE49-F238E27FC236}">
                    <a16:creationId xmlns:a16="http://schemas.microsoft.com/office/drawing/2014/main" id="{74832122-A0D5-D741-A475-9044105C2DF0}"/>
                  </a:ext>
                </a:extLst>
              </p:cNvPr>
              <p:cNvSpPr txBox="1"/>
              <p:nvPr/>
            </p:nvSpPr>
            <p:spPr>
              <a:xfrm>
                <a:off x="1157288" y="3485075"/>
                <a:ext cx="2728912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667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Accident Prevention</a:t>
                </a:r>
              </a:p>
            </p:txBody>
          </p:sp>
          <p:sp>
            <p:nvSpPr>
              <p:cNvPr id="21" name="TextBox 17">
                <a:extLst>
                  <a:ext uri="{FF2B5EF4-FFF2-40B4-BE49-F238E27FC236}">
                    <a16:creationId xmlns:a16="http://schemas.microsoft.com/office/drawing/2014/main" id="{01C750AF-86A1-2F9B-DE70-407AB8394125}"/>
                  </a:ext>
                </a:extLst>
              </p:cNvPr>
              <p:cNvSpPr txBox="1"/>
              <p:nvPr/>
            </p:nvSpPr>
            <p:spPr>
              <a:xfrm>
                <a:off x="1872948" y="3956706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22" name="TextBox 18">
                <a:extLst>
                  <a:ext uri="{FF2B5EF4-FFF2-40B4-BE49-F238E27FC236}">
                    <a16:creationId xmlns:a16="http://schemas.microsoft.com/office/drawing/2014/main" id="{FBF2FAE8-02A4-D20A-B723-2DC9BFC60DD2}"/>
                  </a:ext>
                </a:extLst>
              </p:cNvPr>
              <p:cNvSpPr txBox="1"/>
              <p:nvPr/>
            </p:nvSpPr>
            <p:spPr>
              <a:xfrm>
                <a:off x="1157288" y="5732975"/>
                <a:ext cx="2728912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734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Easy Implementation</a:t>
                </a:r>
              </a:p>
            </p:txBody>
          </p:sp>
          <p:sp>
            <p:nvSpPr>
              <p:cNvPr id="23" name="TextBox 19">
                <a:extLst>
                  <a:ext uri="{FF2B5EF4-FFF2-40B4-BE49-F238E27FC236}">
                    <a16:creationId xmlns:a16="http://schemas.microsoft.com/office/drawing/2014/main" id="{B9510802-16D3-9A10-254D-49A57FEE7CF8}"/>
                  </a:ext>
                </a:extLst>
              </p:cNvPr>
              <p:cNvSpPr txBox="1"/>
              <p:nvPr/>
            </p:nvSpPr>
            <p:spPr>
              <a:xfrm>
                <a:off x="1705413" y="6223656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24" name="TextBox 20">
                <a:extLst>
                  <a:ext uri="{FF2B5EF4-FFF2-40B4-BE49-F238E27FC236}">
                    <a16:creationId xmlns:a16="http://schemas.microsoft.com/office/drawing/2014/main" id="{9EF73850-5317-283F-AC52-9783E5BBB83B}"/>
                  </a:ext>
                </a:extLst>
              </p:cNvPr>
              <p:cNvSpPr txBox="1"/>
              <p:nvPr/>
            </p:nvSpPr>
            <p:spPr>
              <a:xfrm>
                <a:off x="6490840" y="5732975"/>
                <a:ext cx="1583665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734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Mobile App</a:t>
                </a:r>
              </a:p>
            </p:txBody>
          </p:sp>
          <p:sp>
            <p:nvSpPr>
              <p:cNvPr id="25" name="TextBox 21">
                <a:extLst>
                  <a:ext uri="{FF2B5EF4-FFF2-40B4-BE49-F238E27FC236}">
                    <a16:creationId xmlns:a16="http://schemas.microsoft.com/office/drawing/2014/main" id="{CE0CDF61-3161-9232-C705-E7F2CA076969}"/>
                  </a:ext>
                </a:extLst>
              </p:cNvPr>
              <p:cNvSpPr txBox="1"/>
              <p:nvPr/>
            </p:nvSpPr>
            <p:spPr>
              <a:xfrm>
                <a:off x="7419099" y="6223656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26" name="TextBox 22">
                <a:extLst>
                  <a:ext uri="{FF2B5EF4-FFF2-40B4-BE49-F238E27FC236}">
                    <a16:creationId xmlns:a16="http://schemas.microsoft.com/office/drawing/2014/main" id="{404673AE-6C23-8F2A-3F29-0C2F7A4FE7AE}"/>
                  </a:ext>
                </a:extLst>
              </p:cNvPr>
              <p:cNvSpPr txBox="1"/>
              <p:nvPr/>
            </p:nvSpPr>
            <p:spPr>
              <a:xfrm>
                <a:off x="6490840" y="2342075"/>
                <a:ext cx="1716502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734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GPS</a:t>
                </a:r>
                <a:r>
                  <a:rPr 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 </a:t>
                </a: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Tracking</a:t>
                </a:r>
              </a:p>
            </p:txBody>
          </p:sp>
          <p:sp>
            <p:nvSpPr>
              <p:cNvPr id="27" name="TextBox 23">
                <a:extLst>
                  <a:ext uri="{FF2B5EF4-FFF2-40B4-BE49-F238E27FC236}">
                    <a16:creationId xmlns:a16="http://schemas.microsoft.com/office/drawing/2014/main" id="{747ACA54-47D7-86CC-8A23-FA0635AF7E0D}"/>
                  </a:ext>
                </a:extLst>
              </p:cNvPr>
              <p:cNvSpPr txBox="1"/>
              <p:nvPr/>
            </p:nvSpPr>
            <p:spPr>
              <a:xfrm>
                <a:off x="7264708" y="2832756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28" name="TextBox 24">
                <a:extLst>
                  <a:ext uri="{FF2B5EF4-FFF2-40B4-BE49-F238E27FC236}">
                    <a16:creationId xmlns:a16="http://schemas.microsoft.com/office/drawing/2014/main" id="{4697FE1A-ED01-E296-3765-1D1CAFBE775C}"/>
                  </a:ext>
                </a:extLst>
              </p:cNvPr>
              <p:cNvSpPr txBox="1"/>
              <p:nvPr/>
            </p:nvSpPr>
            <p:spPr>
              <a:xfrm>
                <a:off x="6490840" y="4599500"/>
                <a:ext cx="2065372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734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Alcohol Sensor</a:t>
                </a:r>
              </a:p>
            </p:txBody>
          </p:sp>
          <p:sp>
            <p:nvSpPr>
              <p:cNvPr id="29" name="TextBox 25">
                <a:extLst>
                  <a:ext uri="{FF2B5EF4-FFF2-40B4-BE49-F238E27FC236}">
                    <a16:creationId xmlns:a16="http://schemas.microsoft.com/office/drawing/2014/main" id="{9ED63A86-CACF-4194-157C-5A6143FBAA36}"/>
                  </a:ext>
                </a:extLst>
              </p:cNvPr>
              <p:cNvSpPr txBox="1"/>
              <p:nvPr/>
            </p:nvSpPr>
            <p:spPr>
              <a:xfrm>
                <a:off x="7197852" y="5090181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30" name="TextBox 26">
                <a:extLst>
                  <a:ext uri="{FF2B5EF4-FFF2-40B4-BE49-F238E27FC236}">
                    <a16:creationId xmlns:a16="http://schemas.microsoft.com/office/drawing/2014/main" id="{9AA8FCB5-562C-727B-CF6F-02CAB67C73AD}"/>
                  </a:ext>
                </a:extLst>
              </p:cNvPr>
              <p:cNvSpPr txBox="1"/>
              <p:nvPr/>
            </p:nvSpPr>
            <p:spPr>
              <a:xfrm>
                <a:off x="6490840" y="3485075"/>
                <a:ext cx="2500760" cy="4159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667"/>
                  </a:lnSpc>
                </a:pPr>
                <a:r>
                  <a:rPr lang="en-US" sz="2000" b="1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Accident Detection</a:t>
                </a:r>
              </a:p>
            </p:txBody>
          </p:sp>
          <p:sp>
            <p:nvSpPr>
              <p:cNvPr id="31" name="TextBox 27">
                <a:extLst>
                  <a:ext uri="{FF2B5EF4-FFF2-40B4-BE49-F238E27FC236}">
                    <a16:creationId xmlns:a16="http://schemas.microsoft.com/office/drawing/2014/main" id="{5015296D-C6F6-C7A7-21AF-C0BA683DB085}"/>
                  </a:ext>
                </a:extLst>
              </p:cNvPr>
              <p:cNvSpPr txBox="1"/>
              <p:nvPr/>
            </p:nvSpPr>
            <p:spPr>
              <a:xfrm>
                <a:off x="7309799" y="3956706"/>
                <a:ext cx="49139" cy="36809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375"/>
                  </a:lnSpc>
                </a:pPr>
                <a:r>
                  <a:rPr lang="en-US" sz="135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</a:p>
            </p:txBody>
          </p:sp>
          <p:sp>
            <p:nvSpPr>
              <p:cNvPr id="32" name="TextBox 28">
                <a:extLst>
                  <a:ext uri="{FF2B5EF4-FFF2-40B4-BE49-F238E27FC236}">
                    <a16:creationId xmlns:a16="http://schemas.microsoft.com/office/drawing/2014/main" id="{5D88343C-A0B8-A266-9644-A7D4D087760D}"/>
                  </a:ext>
                </a:extLst>
              </p:cNvPr>
              <p:cNvSpPr txBox="1"/>
              <p:nvPr/>
            </p:nvSpPr>
            <p:spPr>
              <a:xfrm>
                <a:off x="1157288" y="4099581"/>
                <a:ext cx="3266170" cy="48731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Enforces</a:t>
                </a: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safety</a:t>
                </a: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discipline</a:t>
                </a: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 </a:t>
                </a: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automatically</a:t>
                </a:r>
              </a:p>
            </p:txBody>
          </p:sp>
          <p:sp>
            <p:nvSpPr>
              <p:cNvPr id="33" name="TextBox 29">
                <a:extLst>
                  <a:ext uri="{FF2B5EF4-FFF2-40B4-BE49-F238E27FC236}">
                    <a16:creationId xmlns:a16="http://schemas.microsoft.com/office/drawing/2014/main" id="{99A74685-2913-9A25-C5D7-4BA43EA82887}"/>
                  </a:ext>
                </a:extLst>
              </p:cNvPr>
              <p:cNvSpPr txBox="1"/>
              <p:nvPr/>
            </p:nvSpPr>
            <p:spPr>
              <a:xfrm>
                <a:off x="1157288" y="6366531"/>
                <a:ext cx="3301384" cy="48731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Simple integration with existing vehicles</a:t>
                </a:r>
              </a:p>
            </p:txBody>
          </p:sp>
          <p:sp>
            <p:nvSpPr>
              <p:cNvPr id="34" name="TextBox 30">
                <a:extLst>
                  <a:ext uri="{FF2B5EF4-FFF2-40B4-BE49-F238E27FC236}">
                    <a16:creationId xmlns:a16="http://schemas.microsoft.com/office/drawing/2014/main" id="{03DE9FC6-4B6E-2F2A-300B-2B0472CDC88E}"/>
                  </a:ext>
                </a:extLst>
              </p:cNvPr>
              <p:cNvSpPr txBox="1"/>
              <p:nvPr/>
            </p:nvSpPr>
            <p:spPr>
              <a:xfrm>
                <a:off x="1157288" y="2975631"/>
                <a:ext cx="3627139" cy="24365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Mandatory helmet usage reduces injury risk</a:t>
                </a:r>
              </a:p>
            </p:txBody>
          </p:sp>
          <p:sp>
            <p:nvSpPr>
              <p:cNvPr id="35" name="TextBox 31">
                <a:extLst>
                  <a:ext uri="{FF2B5EF4-FFF2-40B4-BE49-F238E27FC236}">
                    <a16:creationId xmlns:a16="http://schemas.microsoft.com/office/drawing/2014/main" id="{7A0B9F8F-CBFD-26B4-3E11-E189A9A592AB}"/>
                  </a:ext>
                </a:extLst>
              </p:cNvPr>
              <p:cNvSpPr txBox="1"/>
              <p:nvPr/>
            </p:nvSpPr>
            <p:spPr>
              <a:xfrm>
                <a:off x="1157288" y="5233056"/>
                <a:ext cx="4006748" cy="24365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Affordable components for widespread adoption</a:t>
                </a:r>
              </a:p>
            </p:txBody>
          </p:sp>
          <p:sp>
            <p:nvSpPr>
              <p:cNvPr id="36" name="TextBox 32">
                <a:extLst>
                  <a:ext uri="{FF2B5EF4-FFF2-40B4-BE49-F238E27FC236}">
                    <a16:creationId xmlns:a16="http://schemas.microsoft.com/office/drawing/2014/main" id="{ABE0ABAE-AC81-423C-1568-399C2D0A04EF}"/>
                  </a:ext>
                </a:extLst>
              </p:cNvPr>
              <p:cNvSpPr txBox="1"/>
              <p:nvPr/>
            </p:nvSpPr>
            <p:spPr>
              <a:xfrm>
                <a:off x="6490840" y="2975631"/>
                <a:ext cx="3232652" cy="48731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Real-time location monitoring for riders</a:t>
                </a:r>
              </a:p>
            </p:txBody>
          </p:sp>
          <p:sp>
            <p:nvSpPr>
              <p:cNvPr id="37" name="TextBox 33">
                <a:extLst>
                  <a:ext uri="{FF2B5EF4-FFF2-40B4-BE49-F238E27FC236}">
                    <a16:creationId xmlns:a16="http://schemas.microsoft.com/office/drawing/2014/main" id="{DBB32083-1380-6160-DBDF-A8F7369A3B9E}"/>
                  </a:ext>
                </a:extLst>
              </p:cNvPr>
              <p:cNvSpPr txBox="1"/>
              <p:nvPr/>
            </p:nvSpPr>
            <p:spPr>
              <a:xfrm>
                <a:off x="6490840" y="5233056"/>
                <a:ext cx="3359144" cy="48731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Prevents ignition with impaired judgment</a:t>
                </a:r>
              </a:p>
            </p:txBody>
          </p:sp>
          <p:sp>
            <p:nvSpPr>
              <p:cNvPr id="38" name="TextBox 34">
                <a:extLst>
                  <a:ext uri="{FF2B5EF4-FFF2-40B4-BE49-F238E27FC236}">
                    <a16:creationId xmlns:a16="http://schemas.microsoft.com/office/drawing/2014/main" id="{7A880A08-B24A-F5CC-8EDB-29A7BB4D7419}"/>
                  </a:ext>
                </a:extLst>
              </p:cNvPr>
              <p:cNvSpPr txBox="1"/>
              <p:nvPr/>
            </p:nvSpPr>
            <p:spPr>
              <a:xfrm>
                <a:off x="6490840" y="4099581"/>
                <a:ext cx="3602984" cy="24365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Automatic emergency alerts during crashes</a:t>
                </a:r>
              </a:p>
            </p:txBody>
          </p:sp>
          <p:sp>
            <p:nvSpPr>
              <p:cNvPr id="39" name="TextBox 35">
                <a:extLst>
                  <a:ext uri="{FF2B5EF4-FFF2-40B4-BE49-F238E27FC236}">
                    <a16:creationId xmlns:a16="http://schemas.microsoft.com/office/drawing/2014/main" id="{69471247-A6D4-1D08-DAEC-995B87DFA7AA}"/>
                  </a:ext>
                </a:extLst>
              </p:cNvPr>
              <p:cNvSpPr txBox="1"/>
              <p:nvPr/>
            </p:nvSpPr>
            <p:spPr>
              <a:xfrm>
                <a:off x="6490840" y="6366531"/>
                <a:ext cx="3793969" cy="24365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889"/>
                  </a:lnSpc>
                </a:pPr>
                <a:r>
                  <a:rPr lang="en-US" sz="1600" dirty="0">
                    <a:solidFill>
                      <a:srgbClr val="272525"/>
                    </a:solidFill>
                    <a:latin typeface="Times New Roman" panose="02020603050405020304" pitchFamily="18" charset="0"/>
                    <a:ea typeface="Inter"/>
                    <a:cs typeface="Times New Roman" panose="02020603050405020304" pitchFamily="18" charset="0"/>
                    <a:sym typeface="Inter"/>
                  </a:rPr>
                  <a:t>Companion app for notifications and analytics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6EB91B-38A7-7CC7-1265-02F94411B795}"/>
                  </a:ext>
                </a:extLst>
              </p:cNvPr>
              <p:cNvSpPr txBox="1"/>
              <p:nvPr/>
            </p:nvSpPr>
            <p:spPr>
              <a:xfrm>
                <a:off x="825190" y="1780515"/>
                <a:ext cx="198279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25F7B"/>
                    </a:solidFill>
                    <a:latin typeface="Times New Roman" panose="02020603050405020304" pitchFamily="18" charset="0"/>
                    <a:ea typeface="Petrona Bold"/>
                    <a:cs typeface="Times New Roman" panose="02020603050405020304" pitchFamily="18" charset="0"/>
                    <a:sym typeface="Petrona Bold"/>
                  </a:rPr>
                  <a:t>Advantages</a:t>
                </a:r>
              </a:p>
              <a:p>
                <a:endParaRPr lang="en-IN" dirty="0"/>
              </a:p>
            </p:txBody>
          </p:sp>
        </p:grp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DAA09A2-AD56-3BCB-6BDE-20A98E998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8128" y="1634143"/>
              <a:ext cx="720000" cy="4487972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3AD306B7-1844-880E-9836-27B53A138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8605" y="1634143"/>
              <a:ext cx="778512" cy="4536332"/>
            </a:xfrm>
            <a:prstGeom prst="rect">
              <a:avLst/>
            </a:prstGeom>
          </p:spPr>
        </p:pic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C14D320C-3918-3803-29F8-F0D372B14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4959" y="7351789"/>
            <a:ext cx="2695441" cy="842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D61E4-5F4A-6E70-5EF5-D086FA8E4FC8}"/>
              </a:ext>
            </a:extLst>
          </p:cNvPr>
          <p:cNvGrpSpPr/>
          <p:nvPr/>
        </p:nvGrpSpPr>
        <p:grpSpPr>
          <a:xfrm>
            <a:off x="1533313" y="1416080"/>
            <a:ext cx="5718386" cy="2737305"/>
            <a:chOff x="8276166" y="1542151"/>
            <a:chExt cx="5718386" cy="27373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A3E58D-4516-AB48-00CC-C848D61DF7C6}"/>
                </a:ext>
              </a:extLst>
            </p:cNvPr>
            <p:cNvSpPr txBox="1"/>
            <p:nvPr/>
          </p:nvSpPr>
          <p:spPr>
            <a:xfrm>
              <a:off x="8321886" y="1542151"/>
              <a:ext cx="5672666" cy="1293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Functional Prototype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Successfully developed and tested a working model, validating the core ignition control concept.</a:t>
              </a:r>
            </a:p>
            <a:p>
              <a:endParaRPr lang="en-IN" dirty="0"/>
            </a:p>
          </p:txBody>
        </p:sp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F2135D44-99C6-DC3A-5E15-578F4DBABAEF}"/>
                </a:ext>
              </a:extLst>
            </p:cNvPr>
            <p:cNvSpPr/>
            <p:nvPr/>
          </p:nvSpPr>
          <p:spPr>
            <a:xfrm>
              <a:off x="8276166" y="1542151"/>
              <a:ext cx="45720" cy="1180102"/>
            </a:xfrm>
            <a:prstGeom prst="rect">
              <a:avLst/>
            </a:prstGeom>
            <a:solidFill>
              <a:srgbClr val="00B0F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1AC503B-C1B8-6DFB-9479-A7FC442760AB}"/>
                </a:ext>
              </a:extLst>
            </p:cNvPr>
            <p:cNvSpPr txBox="1"/>
            <p:nvPr/>
          </p:nvSpPr>
          <p:spPr>
            <a:xfrm>
              <a:off x="8345593" y="2985749"/>
              <a:ext cx="5135880" cy="1293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Safety Enforcement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Proven mechanism to prevent vehicle ignition without correct helmet usage, improving road safety.</a:t>
              </a:r>
            </a:p>
            <a:p>
              <a:endParaRPr lang="en-IN" dirty="0"/>
            </a:p>
          </p:txBody>
        </p:sp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2C612B55-AC6C-68E4-D38C-A62CBC3B1CA8}"/>
                </a:ext>
              </a:extLst>
            </p:cNvPr>
            <p:cNvSpPr/>
            <p:nvPr/>
          </p:nvSpPr>
          <p:spPr>
            <a:xfrm>
              <a:off x="8321886" y="3060769"/>
              <a:ext cx="45720" cy="1180102"/>
            </a:xfrm>
            <a:prstGeom prst="rect">
              <a:avLst/>
            </a:prstGeom>
            <a:solidFill>
              <a:srgbClr val="00B0F0"/>
            </a:solidFill>
            <a:ln/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A6FFEF-BE6D-D311-4F9A-9CCA51F2E102}"/>
              </a:ext>
            </a:extLst>
          </p:cNvPr>
          <p:cNvGrpSpPr/>
          <p:nvPr/>
        </p:nvGrpSpPr>
        <p:grpSpPr>
          <a:xfrm>
            <a:off x="8628378" y="4864686"/>
            <a:ext cx="5366174" cy="2907714"/>
            <a:chOff x="8246531" y="4542953"/>
            <a:chExt cx="5366174" cy="2907714"/>
          </a:xfrm>
        </p:grpSpPr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CF129D23-AFB5-891C-A222-B104A60B5155}"/>
                </a:ext>
              </a:extLst>
            </p:cNvPr>
            <p:cNvSpPr/>
            <p:nvPr/>
          </p:nvSpPr>
          <p:spPr>
            <a:xfrm>
              <a:off x="8263465" y="6043354"/>
              <a:ext cx="45720" cy="1180102"/>
            </a:xfrm>
            <a:prstGeom prst="rect">
              <a:avLst/>
            </a:prstGeom>
            <a:solidFill>
              <a:srgbClr val="00B0F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4679D60F-DDA3-708F-03AA-3FB457DE4BAC}"/>
                </a:ext>
              </a:extLst>
            </p:cNvPr>
            <p:cNvSpPr/>
            <p:nvPr/>
          </p:nvSpPr>
          <p:spPr>
            <a:xfrm>
              <a:off x="8246532" y="4542953"/>
              <a:ext cx="45720" cy="1180102"/>
            </a:xfrm>
            <a:prstGeom prst="rect">
              <a:avLst/>
            </a:prstGeom>
            <a:solidFill>
              <a:srgbClr val="00B0F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15573B0-345C-B4B8-8A6E-0B3E85114580}"/>
                </a:ext>
              </a:extLst>
            </p:cNvPr>
            <p:cNvSpPr txBox="1"/>
            <p:nvPr/>
          </p:nvSpPr>
          <p:spPr>
            <a:xfrm>
              <a:off x="8246532" y="4542953"/>
              <a:ext cx="5366173" cy="1293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Positive User Experience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Seamless operation with intuitive feedback, encouraging consistent adoption by riders.</a:t>
              </a:r>
            </a:p>
            <a:p>
              <a:endParaRPr lang="en-I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2D5E2A-E9B4-1549-8FAE-11A78839F5BF}"/>
                </a:ext>
              </a:extLst>
            </p:cNvPr>
            <p:cNvSpPr txBox="1"/>
            <p:nvPr/>
          </p:nvSpPr>
          <p:spPr>
            <a:xfrm>
              <a:off x="8246531" y="6156960"/>
              <a:ext cx="5366173" cy="1293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Scalable &amp; Adaptable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Modular design allows for integration with various motorcycle models and future feature expansions</a:t>
              </a:r>
              <a:r>
                <a:rPr lang="en-US" dirty="0"/>
                <a:t>.</a:t>
              </a:r>
            </a:p>
            <a:p>
              <a:endParaRPr lang="en-IN" dirty="0"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6297448-0EA1-8E07-455B-55013E3908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1"/>
          <a:stretch>
            <a:fillRect/>
          </a:stretch>
        </p:blipFill>
        <p:spPr>
          <a:xfrm>
            <a:off x="8869314" y="822438"/>
            <a:ext cx="4182053" cy="3547488"/>
          </a:xfrm>
          <a:prstGeom prst="rect">
            <a:avLst/>
          </a:prstGeom>
          <a:effectLst>
            <a:outerShdw blurRad="76200" dist="38100" algn="t" rotWithShape="0">
              <a:schemeClr val="bg1">
                <a:alpha val="40000"/>
              </a:schemeClr>
            </a:outerShdw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520F2D4-08F6-6FE7-78A4-26F1A539B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378" y="4615437"/>
            <a:ext cx="6171822" cy="308591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19F2AFA-5163-457C-8416-4B4BA9E2AD64}"/>
              </a:ext>
            </a:extLst>
          </p:cNvPr>
          <p:cNvSpPr txBox="1"/>
          <p:nvPr/>
        </p:nvSpPr>
        <p:spPr>
          <a:xfrm>
            <a:off x="1143378" y="271045"/>
            <a:ext cx="78773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Output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21CD0-B767-220F-F6F4-BC797284D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8315" y="7685988"/>
            <a:ext cx="1920878" cy="50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85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09954-7E40-8D79-475B-6419F763925C}"/>
              </a:ext>
            </a:extLst>
          </p:cNvPr>
          <p:cNvSpPr txBox="1"/>
          <p:nvPr/>
        </p:nvSpPr>
        <p:spPr>
          <a:xfrm>
            <a:off x="965200" y="1053652"/>
            <a:ext cx="5825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66C9707-5E3C-D817-32FD-43285818B92F}"/>
              </a:ext>
            </a:extLst>
          </p:cNvPr>
          <p:cNvSpPr/>
          <p:nvPr/>
        </p:nvSpPr>
        <p:spPr>
          <a:xfrm>
            <a:off x="6555739" y="6168965"/>
            <a:ext cx="45720" cy="1180102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D2F0E-748B-2C54-A9AB-32F2F3FD285E}"/>
              </a:ext>
            </a:extLst>
          </p:cNvPr>
          <p:cNvSpPr txBox="1"/>
          <p:nvPr/>
        </p:nvSpPr>
        <p:spPr>
          <a:xfrm>
            <a:off x="6790267" y="6434667"/>
            <a:ext cx="6529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"Not just a product — a complete safety solution with user guidance built in."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01ACB-95F2-C64A-722E-ED811FB933FA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C9C75F-ABF5-9B25-B999-8F1CA49B5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514600"/>
            <a:ext cx="4580588" cy="4580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43492C-AEA2-1EE7-EC0A-C933A1E50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459" y="2275291"/>
            <a:ext cx="7385631" cy="330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645</Words>
  <Application>Microsoft Office PowerPoint</Application>
  <PresentationFormat>Custom</PresentationFormat>
  <Paragraphs>167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 kunduru</dc:creator>
  <cp:lastModifiedBy>manikantaamara31@gmail.com</cp:lastModifiedBy>
  <cp:revision>5</cp:revision>
  <dcterms:created xsi:type="dcterms:W3CDTF">2026-04-08T06:27:11Z</dcterms:created>
  <dcterms:modified xsi:type="dcterms:W3CDTF">2026-04-09T15:07:23Z</dcterms:modified>
</cp:coreProperties>
</file>